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Montserrat SemiBold"/>
      <p:regular r:id="rId25"/>
      <p:bold r:id="rId26"/>
      <p:italic r:id="rId27"/>
      <p:boldItalic r:id="rId28"/>
    </p:embeddedFont>
    <p:embeddedFont>
      <p:font typeface="Roboto Black"/>
      <p:bold r:id="rId29"/>
      <p:boldItalic r:id="rId30"/>
    </p:embeddedFont>
    <p:embeddedFont>
      <p:font typeface="Roboto Medium"/>
      <p:regular r:id="rId31"/>
      <p:bold r:id="rId32"/>
      <p:italic r:id="rId33"/>
      <p:boldItalic r:id="rId34"/>
    </p:embeddedFont>
    <p:embeddedFont>
      <p:font typeface="Roboto"/>
      <p:bold r:id="rId35"/>
      <p:boldItalic r:id="rId36"/>
    </p:embeddedFont>
    <p:embeddedFont>
      <p:font typeface="Montserrat"/>
      <p:bold r:id="rId37"/>
      <p:boldItalic r:id="rId38"/>
    </p:embeddedFont>
    <p:embeddedFont>
      <p:font typeface="Montserrat ExtraBold"/>
      <p:bold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ExtraBold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SemiBold-bold.fntdata"/><Relationship Id="rId25" Type="http://schemas.openxmlformats.org/officeDocument/2006/relationships/font" Target="fonts/MontserratSemiBold-regular.fntdata"/><Relationship Id="rId28" Type="http://schemas.openxmlformats.org/officeDocument/2006/relationships/font" Target="fonts/MontserratSemiBold-boldItalic.fntdata"/><Relationship Id="rId27" Type="http://schemas.openxmlformats.org/officeDocument/2006/relationships/font" Target="fonts/Montserrat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Black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edium-regular.fntdata"/><Relationship Id="rId30" Type="http://schemas.openxmlformats.org/officeDocument/2006/relationships/font" Target="fonts/RobotoBlack-boldItalic.fntdata"/><Relationship Id="rId11" Type="http://schemas.openxmlformats.org/officeDocument/2006/relationships/slide" Target="slides/slide6.xml"/><Relationship Id="rId33" Type="http://schemas.openxmlformats.org/officeDocument/2006/relationships/font" Target="fonts/RobotoMedium-italic.fntdata"/><Relationship Id="rId10" Type="http://schemas.openxmlformats.org/officeDocument/2006/relationships/slide" Target="slides/slide5.xml"/><Relationship Id="rId32" Type="http://schemas.openxmlformats.org/officeDocument/2006/relationships/font" Target="fonts/RobotoMedium-bold.fntdata"/><Relationship Id="rId13" Type="http://schemas.openxmlformats.org/officeDocument/2006/relationships/slide" Target="slides/slide8.xml"/><Relationship Id="rId35" Type="http://schemas.openxmlformats.org/officeDocument/2006/relationships/font" Target="fonts/Roboto-bold.fntdata"/><Relationship Id="rId12" Type="http://schemas.openxmlformats.org/officeDocument/2006/relationships/slide" Target="slides/slide7.xml"/><Relationship Id="rId34" Type="http://schemas.openxmlformats.org/officeDocument/2006/relationships/font" Target="fonts/RobotoMedium-boldItalic.fntdata"/><Relationship Id="rId15" Type="http://schemas.openxmlformats.org/officeDocument/2006/relationships/slide" Target="slides/slide10.xml"/><Relationship Id="rId37" Type="http://schemas.openxmlformats.org/officeDocument/2006/relationships/font" Target="fonts/Montserrat-bold.fntdata"/><Relationship Id="rId14" Type="http://schemas.openxmlformats.org/officeDocument/2006/relationships/slide" Target="slides/slide9.xml"/><Relationship Id="rId36" Type="http://schemas.openxmlformats.org/officeDocument/2006/relationships/font" Target="fonts/Roboto-boldItalic.fntdata"/><Relationship Id="rId17" Type="http://schemas.openxmlformats.org/officeDocument/2006/relationships/slide" Target="slides/slide12.xml"/><Relationship Id="rId39" Type="http://schemas.openxmlformats.org/officeDocument/2006/relationships/font" Target="fonts/MontserratExtraBold-bold.fntdata"/><Relationship Id="rId16" Type="http://schemas.openxmlformats.org/officeDocument/2006/relationships/slide" Target="slides/slide11.xml"/><Relationship Id="rId38" Type="http://schemas.openxmlformats.org/officeDocument/2006/relationships/font" Target="fonts/Montserra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eb9418dc3_0_6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eb9418dc3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eb9418dc3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eb9418dc3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eb9418dc3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eb9418dc3_0_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eb9418dc3_0_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eb9418dc3_0_95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eb9418dc3_0_126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eb9418dc3_0_141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eb9418dc3_0_157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eb9418dc3_0_187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ec34e9bea_0_37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eb9418dc3_0_19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deb9418dc3_0_19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eb9418dc3_0_263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deb9418dc3_0_370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deb9418dc3_0_371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deb9418dc3_0_277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deb9418dc3_0_356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deb9418dc3_0_293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deb9418dc3_0_321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deb9418dc3_0_336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eb9418dc3_6_0)">
  <p:cSld name="Generated (g3deb9418dc3_6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b9418dc3_34_0)">
  <p:cSld name="Title and body (g3deb9418dc3_34_0)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b9418dc3_34_0) (g3deb9418dc3_47_0)">
  <p:cSld name="Title and body (g3deb9418dc3_34_0) (g3deb9418dc3_47_0)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b9418dc3_34_0) (g3deb9418dc3_47_0) (g3deb9418dc3_63_0)">
  <p:cSld name="Title and body (g3deb9418dc3_34_0) (g3deb9418dc3_47_0) (g3deb9418dc3_63_0)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25.png"/><Relationship Id="rId5" Type="http://schemas.openxmlformats.org/officeDocument/2006/relationships/image" Target="../media/image27.png"/><Relationship Id="rId6" Type="http://schemas.openxmlformats.org/officeDocument/2006/relationships/image" Target="../media/image3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26.png"/><Relationship Id="rId6" Type="http://schemas.openxmlformats.org/officeDocument/2006/relationships/image" Target="../media/image36.png"/><Relationship Id="rId7" Type="http://schemas.openxmlformats.org/officeDocument/2006/relationships/image" Target="../media/image28.png"/><Relationship Id="rId8" Type="http://schemas.openxmlformats.org/officeDocument/2006/relationships/image" Target="../media/image3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8.jpg"/><Relationship Id="rId4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Relationship Id="rId4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905250"/>
            <a:ext cx="9144000" cy="12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7"/>
          <p:cNvSpPr/>
          <p:nvPr/>
        </p:nvSpPr>
        <p:spPr>
          <a:xfrm>
            <a:off x="2667000" y="2476500"/>
            <a:ext cx="3810000" cy="38100"/>
          </a:xfrm>
          <a:prstGeom prst="roundRect">
            <a:avLst>
              <a:gd fmla="val 50000" name="adj"/>
            </a:avLst>
          </a:prstGeom>
          <a:solidFill>
            <a:srgbClr val="81C7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7"/>
          <p:cNvSpPr txBox="1"/>
          <p:nvPr/>
        </p:nvSpPr>
        <p:spPr>
          <a:xfrm>
            <a:off x="571500" y="381000"/>
            <a:ext cx="80010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515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Smart Agriculture Advisory System Using Machine Learning</a:t>
            </a:r>
            <a:endParaRPr b="0" sz="3515">
              <a:solidFill>
                <a:srgbClr val="1B5E2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70" name="Google Shape;70;p17"/>
          <p:cNvSpPr txBox="1"/>
          <p:nvPr/>
        </p:nvSpPr>
        <p:spPr>
          <a:xfrm>
            <a:off x="571500" y="1905000"/>
            <a:ext cx="800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2E7D3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Agro-Meteorology Based Crop Planning System</a:t>
            </a:r>
            <a:endParaRPr b="0" sz="2000">
              <a:solidFill>
                <a:srgbClr val="2E7D3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1" name="Google Shape;71;p17"/>
          <p:cNvSpPr txBox="1"/>
          <p:nvPr/>
        </p:nvSpPr>
        <p:spPr>
          <a:xfrm>
            <a:off x="571500" y="2762250"/>
            <a:ext cx="8001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455A64"/>
                </a:solidFill>
                <a:latin typeface="Roboto Medium"/>
                <a:ea typeface="Roboto Medium"/>
                <a:cs typeface="Roboto Medium"/>
                <a:sym typeface="Roboto Medium"/>
              </a:rPr>
              <a:t>Submitted to: Course Teacher, EAI-421: Applications of AI &amp; ML in Agriculture</a:t>
            </a:r>
            <a:endParaRPr b="0" sz="1400">
              <a:solidFill>
                <a:srgbClr val="455A6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72" name="Google Shape;72;p17"/>
          <p:cNvGrpSpPr/>
          <p:nvPr/>
        </p:nvGrpSpPr>
        <p:grpSpPr>
          <a:xfrm>
            <a:off x="1714500" y="3524250"/>
            <a:ext cx="5715000" cy="762000"/>
            <a:chOff x="0" y="0"/>
            <a:chExt cx="5715000" cy="762000"/>
          </a:xfrm>
        </p:grpSpPr>
        <p:pic>
          <p:nvPicPr>
            <p:cNvPr id="73" name="Google Shape;73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5715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" name="Google Shape;74;p17"/>
            <p:cNvSpPr txBox="1"/>
            <p:nvPr/>
          </p:nvSpPr>
          <p:spPr>
            <a:xfrm>
              <a:off x="95250" y="0"/>
              <a:ext cx="5524500" cy="49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935">
                  <a:solidFill>
                    <a:srgbClr val="37474F"/>
                  </a:solidFill>
                  <a:latin typeface="Roboto"/>
                  <a:ea typeface="Roboto"/>
                  <a:cs typeface="Roboto"/>
                  <a:sym typeface="Roboto"/>
                </a:rPr>
                <a:t>Presented by:</a:t>
              </a:r>
              <a:r>
                <a:rPr b="0" i="0" lang="en" sz="935">
                  <a:solidFill>
                    <a:srgbClr val="37474F"/>
                  </a:solidFill>
                  <a:latin typeface="Roboto"/>
                  <a:ea typeface="Roboto"/>
                  <a:cs typeface="Roboto"/>
                  <a:sym typeface="Roboto"/>
                </a:rPr>
                <a:t> Abhishek Gowda V (AMB2009) | Shashank Gowda (AMB2229) | Vikas Gowda T N (AMB2297)</a:t>
              </a:r>
              <a:endParaRPr b="1" i="0" sz="935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1" i="0" lang="en" sz="935">
                  <a:solidFill>
                    <a:srgbClr val="37474F"/>
                  </a:solidFill>
                  <a:latin typeface="Roboto"/>
                  <a:ea typeface="Roboto"/>
                  <a:cs typeface="Roboto"/>
                  <a:sym typeface="Roboto"/>
                </a:rPr>
                <a:t>Affiliation:</a:t>
              </a:r>
              <a:r>
                <a:rPr b="0" i="0" lang="en" sz="935">
                  <a:solidFill>
                    <a:srgbClr val="37474F"/>
                  </a:solidFill>
                  <a:latin typeface="Roboto"/>
                  <a:ea typeface="Roboto"/>
                  <a:cs typeface="Roboto"/>
                  <a:sym typeface="Roboto"/>
                </a:rPr>
                <a:t> IV BSc. (Hons') Agriculture, Module - 3, College of Agriculture, GKVK, Bengaluru - 560065</a:t>
              </a:r>
              <a:endParaRPr b="1" i="0" sz="935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5" name="Google Shape;75;p17"/>
          <p:cNvSpPr txBox="1"/>
          <p:nvPr/>
        </p:nvSpPr>
        <p:spPr>
          <a:xfrm>
            <a:off x="571500" y="4476750"/>
            <a:ext cx="800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Academic Year: 2025–26</a:t>
            </a:r>
            <a:endParaRPr b="1" i="0" sz="1100">
              <a:solidFill>
                <a:srgbClr val="3747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6" name="Google Shape;7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952500" y="-95250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0" y="3714750"/>
            <a:ext cx="1428900" cy="14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905250"/>
            <a:ext cx="9144000" cy="12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/>
          <p:nvPr>
            <p:ph type="title"/>
          </p:nvPr>
        </p:nvSpPr>
        <p:spPr>
          <a:xfrm>
            <a:off x="571500" y="38100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Index</a:t>
            </a:r>
            <a:endParaRPr b="0" sz="3200">
              <a:solidFill>
                <a:srgbClr val="1B5E2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571500" y="1047750"/>
            <a:ext cx="80010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95"/>
              <a:buFont typeface="Roboto"/>
              <a:buChar char="●"/>
            </a:pPr>
            <a:r>
              <a:rPr lang="en" sz="1295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Introduction</a:t>
            </a:r>
            <a:endParaRPr sz="1295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Clr>
                <a:srgbClr val="2E7D32"/>
              </a:buClr>
              <a:buSzPts val="1295"/>
              <a:buFont typeface="Roboto"/>
              <a:buChar char="●"/>
            </a:pPr>
            <a:r>
              <a:rPr lang="en" sz="1295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Problem Statement</a:t>
            </a:r>
            <a:endParaRPr sz="1295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Clr>
                <a:srgbClr val="2E7D32"/>
              </a:buClr>
              <a:buSzPts val="1295"/>
              <a:buFont typeface="Roboto"/>
              <a:buChar char="●"/>
            </a:pPr>
            <a:r>
              <a:rPr lang="en" sz="1295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Motivation</a:t>
            </a:r>
            <a:endParaRPr sz="1295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Clr>
                <a:srgbClr val="2E7D32"/>
              </a:buClr>
              <a:buSzPts val="1295"/>
              <a:buFont typeface="Roboto"/>
              <a:buChar char="●"/>
            </a:pPr>
            <a:r>
              <a:rPr lang="en" sz="1295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Objectives of the Project</a:t>
            </a:r>
            <a:endParaRPr sz="1295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Clr>
                <a:srgbClr val="2E7D32"/>
              </a:buClr>
              <a:buSzPts val="1295"/>
              <a:buFont typeface="Roboto"/>
              <a:buChar char="●"/>
            </a:pPr>
            <a:r>
              <a:rPr lang="en" sz="1295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Dataset Overview</a:t>
            </a:r>
            <a:endParaRPr sz="1295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Clr>
                <a:srgbClr val="2E7D32"/>
              </a:buClr>
              <a:buSzPts val="1295"/>
              <a:buFont typeface="Roboto"/>
              <a:buChar char="●"/>
            </a:pPr>
            <a:r>
              <a:rPr lang="en" sz="1295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Methodology / Approach</a:t>
            </a:r>
            <a:endParaRPr sz="1295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Clr>
                <a:srgbClr val="2E7D32"/>
              </a:buClr>
              <a:buSzPts val="1295"/>
              <a:buFont typeface="Roboto"/>
              <a:buChar char="●"/>
            </a:pPr>
            <a:r>
              <a:rPr lang="en" sz="1295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Tools and Technologies Used</a:t>
            </a:r>
            <a:endParaRPr sz="1295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Clr>
                <a:srgbClr val="2E7D32"/>
              </a:buClr>
              <a:buSzPts val="1295"/>
              <a:buFont typeface="Roboto"/>
              <a:buChar char="●"/>
            </a:pPr>
            <a:r>
              <a:rPr lang="en" sz="1295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  <a:endParaRPr sz="1295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Clr>
                <a:srgbClr val="2E7D32"/>
              </a:buClr>
              <a:buSzPts val="1295"/>
              <a:buFont typeface="Roboto"/>
              <a:buChar char="●"/>
            </a:pPr>
            <a:r>
              <a:rPr lang="en" sz="1295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Discussion / Analysis</a:t>
            </a:r>
            <a:endParaRPr sz="1295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Clr>
                <a:srgbClr val="2E7D32"/>
              </a:buClr>
              <a:buSzPts val="1295"/>
              <a:buFont typeface="Roboto"/>
              <a:buChar char="●"/>
            </a:pPr>
            <a:r>
              <a:rPr lang="en" sz="1295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Conclusion and Future Work</a:t>
            </a:r>
            <a:endParaRPr sz="1295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Clr>
                <a:srgbClr val="2E7D32"/>
              </a:buClr>
              <a:buSzPts val="1295"/>
              <a:buFont typeface="Roboto"/>
              <a:buChar char="●"/>
            </a:pPr>
            <a:r>
              <a:rPr lang="en" sz="1295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References / Acknowledgements</a:t>
            </a:r>
            <a:endParaRPr sz="1295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8"/>
          <p:cNvSpPr/>
          <p:nvPr/>
        </p:nvSpPr>
        <p:spPr>
          <a:xfrm>
            <a:off x="571500" y="95250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81C7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905250"/>
            <a:ext cx="9144000" cy="12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9"/>
          <p:cNvSpPr txBox="1"/>
          <p:nvPr>
            <p:ph type="title"/>
          </p:nvPr>
        </p:nvSpPr>
        <p:spPr>
          <a:xfrm>
            <a:off x="571500" y="38100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Introduction</a:t>
            </a:r>
            <a:endParaRPr b="0" sz="3200">
              <a:solidFill>
                <a:srgbClr val="1B5E2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92" name="Google Shape;92;p19"/>
          <p:cNvSpPr/>
          <p:nvPr/>
        </p:nvSpPr>
        <p:spPr>
          <a:xfrm>
            <a:off x="571500" y="95250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81C7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571500" y="1143000"/>
            <a:ext cx="8001000" cy="304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400"/>
              <a:buFont typeface="Roboto"/>
              <a:buChar char="●"/>
            </a:pPr>
            <a:r>
              <a:rPr b="0" lang="en" sz="1400">
                <a:solidFill>
                  <a:srgbClr val="81C784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b="0" lang="en" sz="14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Agriculture contributes ~18% to India's GDP and supports over 58% of the rural population.</a:t>
            </a:r>
            <a:endParaRPr b="0" sz="1400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Clr>
                <a:srgbClr val="2E7D32"/>
              </a:buClr>
              <a:buSzPts val="1400"/>
              <a:buFont typeface="Roboto"/>
              <a:buChar char="●"/>
            </a:pPr>
            <a:r>
              <a:rPr b="0" lang="en" sz="1400">
                <a:solidFill>
                  <a:srgbClr val="81C784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b="0" lang="en" sz="14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Smallholder farmers face chronic challenges in decision-making, exacerbated by erratic monsoons, rising temperatures, and climate variability.</a:t>
            </a:r>
            <a:endParaRPr b="0" sz="1400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Clr>
                <a:srgbClr val="2E7D32"/>
              </a:buClr>
              <a:buSzPts val="1400"/>
              <a:buFont typeface="Roboto"/>
              <a:buChar char="●"/>
            </a:pPr>
            <a:r>
              <a:rPr b="0" lang="en" sz="1400">
                <a:solidFill>
                  <a:srgbClr val="81C784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b="0" lang="en" sz="14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The Smart Agriculture Advisory System (SAAS) addresses this by using machine learning to predict soil moisture strictly from observable weather inputs.</a:t>
            </a:r>
            <a:endParaRPr b="0" sz="1400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Clr>
                <a:srgbClr val="2E7D32"/>
              </a:buClr>
              <a:buSzPts val="1400"/>
              <a:buFont typeface="Roboto"/>
              <a:buChar char="●"/>
            </a:pPr>
            <a:r>
              <a:rPr b="0" lang="en" sz="1400">
                <a:solidFill>
                  <a:srgbClr val="81C784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b="0" lang="en" sz="14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By combining predicted soil moisture with temperature data, the system recommends suitable crops tailored to Karnataka’s agro-climatic conditions.</a:t>
            </a:r>
            <a:endParaRPr b="0" sz="1400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Clr>
                <a:srgbClr val="2E7D32"/>
              </a:buClr>
              <a:buSzPts val="1400"/>
              <a:buFont typeface="Roboto"/>
              <a:buChar char="●"/>
            </a:pPr>
            <a:r>
              <a:rPr b="0" lang="en" sz="1400">
                <a:solidFill>
                  <a:srgbClr val="81C784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b="0" lang="en" sz="14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The system accommodates both technical and non-technical users via dual input modes (descriptive vs. numeric).</a:t>
            </a:r>
            <a:endParaRPr b="0" sz="1400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905250"/>
            <a:ext cx="9144000" cy="12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>
            <p:ph type="title"/>
          </p:nvPr>
        </p:nvSpPr>
        <p:spPr>
          <a:xfrm>
            <a:off x="571500" y="38100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Problem Statement</a:t>
            </a:r>
            <a:endParaRPr b="0" sz="3200">
              <a:solidFill>
                <a:srgbClr val="1B5E2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0" name="Google Shape;100;p20"/>
          <p:cNvSpPr/>
          <p:nvPr/>
        </p:nvSpPr>
        <p:spPr>
          <a:xfrm>
            <a:off x="571500" y="95250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81C7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571500" y="1143000"/>
            <a:ext cx="80010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81C784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b="1" lang="en" sz="14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Absence of Real-Time Support:</a:t>
            </a:r>
            <a:r>
              <a:rPr b="0" lang="en" sz="14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 Crop selection relies on traditional calendars rather than real-time soil/weather data, leading to mismatched crops and avoidable yield losses.</a:t>
            </a:r>
            <a:endParaRPr b="0" sz="1400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81C784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b="1" lang="en" sz="14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Poor Soil Moisture Estimation:</a:t>
            </a:r>
            <a:r>
              <a:rPr b="0" lang="en" sz="14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 Soil moisture is critical, yet sensors are inaccessible at the farm level, and manual estimation is highly inaccurate.</a:t>
            </a:r>
            <a:endParaRPr b="0" sz="1400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81C784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b="1" lang="en" sz="14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Climate Variability:</a:t>
            </a:r>
            <a:r>
              <a:rPr b="0" lang="en" sz="14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 Increased droughts and unpredictable rainfall render traditional monsoon-onset calendars disproportionately risky.</a:t>
            </a:r>
            <a:endParaRPr b="0" sz="1400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125"/>
              </a:spcBef>
              <a:spcAft>
                <a:spcPts val="1125"/>
              </a:spcAft>
              <a:buNone/>
            </a:pPr>
            <a:r>
              <a:rPr b="0" lang="en" sz="1400">
                <a:solidFill>
                  <a:srgbClr val="81C784"/>
                </a:solidFill>
                <a:latin typeface="Roboto"/>
                <a:ea typeface="Roboto"/>
                <a:cs typeface="Roboto"/>
                <a:sym typeface="Roboto"/>
              </a:rPr>
              <a:t>●</a:t>
            </a:r>
            <a:r>
              <a:rPr b="1" lang="en" sz="14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Literacy Barriers:</a:t>
            </a:r>
            <a:r>
              <a:rPr b="0" lang="en" sz="14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 Existing tech tools lack local-language or simple descriptive interfaces, creating a barrier for primary stakeholders.</a:t>
            </a:r>
            <a:endParaRPr b="0" sz="1400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/>
          <p:cNvPicPr preferRelativeResize="0"/>
          <p:nvPr/>
        </p:nvPicPr>
        <p:blipFill rotWithShape="1">
          <a:blip r:embed="rId4">
            <a:alphaModFix/>
          </a:blip>
          <a:srcRect b="0" l="10" r="0" t="0"/>
          <a:stretch/>
        </p:blipFill>
        <p:spPr>
          <a:xfrm>
            <a:off x="0" y="3905250"/>
            <a:ext cx="9144000" cy="12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Motivation</a:t>
            </a:r>
            <a:endParaRPr b="0" sz="3200">
              <a:solidFill>
                <a:srgbClr val="1B5E2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7" name="Google Shape;107;p21"/>
          <p:cNvSpPr/>
          <p:nvPr/>
        </p:nvSpPr>
        <p:spPr>
          <a:xfrm>
            <a:off x="571500" y="95250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81C7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21"/>
          <p:cNvGrpSpPr/>
          <p:nvPr/>
        </p:nvGrpSpPr>
        <p:grpSpPr>
          <a:xfrm>
            <a:off x="571500" y="1238250"/>
            <a:ext cx="3810000" cy="1428900"/>
            <a:chOff x="0" y="0"/>
            <a:chExt cx="3810000" cy="1428900"/>
          </a:xfrm>
        </p:grpSpPr>
        <p:sp>
          <p:nvSpPr>
            <p:cNvPr id="109" name="Google Shape;109;p21"/>
            <p:cNvSpPr/>
            <p:nvPr/>
          </p:nvSpPr>
          <p:spPr>
            <a:xfrm>
              <a:off x="0" y="0"/>
              <a:ext cx="3810000" cy="1428900"/>
            </a:xfrm>
            <a:prstGeom prst="roundRect">
              <a:avLst>
                <a:gd fmla="val 10666" name="adj"/>
              </a:avLst>
            </a:prstGeom>
            <a:solidFill>
              <a:srgbClr val="FFFFFF">
                <a:alpha val="60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close-up of vibrant green crops in a field, symbolizing food security and agricultural growth." id="110" name="Google Shape;110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5250" y="47625"/>
              <a:ext cx="3619500" cy="1333500"/>
            </a:xfrm>
            <a:prstGeom prst="roundRect">
              <a:avLst>
                <a:gd fmla="val 8571" name="adj"/>
              </a:avLst>
            </a:prstGeom>
            <a:noFill/>
            <a:ln>
              <a:noFill/>
            </a:ln>
          </p:spPr>
        </p:pic>
        <p:sp>
          <p:nvSpPr>
            <p:cNvPr id="111" name="Google Shape;111;p21"/>
            <p:cNvSpPr txBox="1"/>
            <p:nvPr/>
          </p:nvSpPr>
          <p:spPr>
            <a:xfrm>
              <a:off x="190500" y="190500"/>
              <a:ext cx="3429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National Food Security</a:t>
              </a:r>
              <a:endParaRPr b="1" sz="14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Doubling farmers' income requires an urgent upgrade in technology-enabled, farm-level advisory infrastructure.</a:t>
              </a:r>
              <a:endParaRPr b="0" sz="115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2" name="Google Shape;112;p21"/>
          <p:cNvGrpSpPr/>
          <p:nvPr/>
        </p:nvGrpSpPr>
        <p:grpSpPr>
          <a:xfrm>
            <a:off x="4762500" y="1238250"/>
            <a:ext cx="3810000" cy="1428900"/>
            <a:chOff x="0" y="0"/>
            <a:chExt cx="3810000" cy="1428900"/>
          </a:xfrm>
        </p:grpSpPr>
        <p:sp>
          <p:nvSpPr>
            <p:cNvPr id="113" name="Google Shape;113;p21"/>
            <p:cNvSpPr/>
            <p:nvPr/>
          </p:nvSpPr>
          <p:spPr>
            <a:xfrm>
              <a:off x="0" y="0"/>
              <a:ext cx="3810000" cy="1428900"/>
            </a:xfrm>
            <a:prstGeom prst="roundRect">
              <a:avLst>
                <a:gd fmla="val 10666" name="adj"/>
              </a:avLst>
            </a:prstGeom>
            <a:solidFill>
              <a:srgbClr val="FFFFFF">
                <a:alpha val="60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Dramatic sky with sun rays and rain clouds over a landscape, representing climate-smart agriculture." id="114" name="Google Shape;114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5250" y="47625"/>
              <a:ext cx="3619500" cy="1333500"/>
            </a:xfrm>
            <a:prstGeom prst="roundRect">
              <a:avLst>
                <a:gd fmla="val 8571" name="adj"/>
              </a:avLst>
            </a:prstGeom>
            <a:noFill/>
            <a:ln>
              <a:noFill/>
            </a:ln>
          </p:spPr>
        </p:pic>
        <p:sp>
          <p:nvSpPr>
            <p:cNvPr id="115" name="Google Shape;115;p21"/>
            <p:cNvSpPr txBox="1"/>
            <p:nvPr/>
          </p:nvSpPr>
          <p:spPr>
            <a:xfrm>
              <a:off x="190500" y="190500"/>
              <a:ext cx="3429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Climate-Smart Imperative</a:t>
              </a:r>
              <a:endParaRPr b="1" sz="14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Changing global precipitation patterns demand a transition from static calendars to dynamic, data-driven approaches.</a:t>
              </a:r>
              <a:endParaRPr b="0" sz="115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6" name="Google Shape;116;p21"/>
          <p:cNvGrpSpPr/>
          <p:nvPr/>
        </p:nvGrpSpPr>
        <p:grpSpPr>
          <a:xfrm>
            <a:off x="571500" y="2857500"/>
            <a:ext cx="3810000" cy="1428900"/>
            <a:chOff x="0" y="0"/>
            <a:chExt cx="3810000" cy="1428900"/>
          </a:xfrm>
        </p:grpSpPr>
        <p:sp>
          <p:nvSpPr>
            <p:cNvPr id="117" name="Google Shape;117;p21"/>
            <p:cNvSpPr/>
            <p:nvPr/>
          </p:nvSpPr>
          <p:spPr>
            <a:xfrm>
              <a:off x="0" y="0"/>
              <a:ext cx="3810000" cy="1428900"/>
            </a:xfrm>
            <a:prstGeom prst="roundRect">
              <a:avLst>
                <a:gd fmla="val 10666" name="adj"/>
              </a:avLst>
            </a:prstGeom>
            <a:solidFill>
              <a:srgbClr val="FFFFFF">
                <a:alpha val="60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bstract digital network nodes and a simple computer chip, symbolizing AI democratization." id="118" name="Google Shape;118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5250" y="47625"/>
              <a:ext cx="3619500" cy="1333500"/>
            </a:xfrm>
            <a:prstGeom prst="roundRect">
              <a:avLst>
                <a:gd fmla="val 8571" name="adj"/>
              </a:avLst>
            </a:prstGeom>
            <a:noFill/>
            <a:ln>
              <a:noFill/>
            </a:ln>
          </p:spPr>
        </p:pic>
        <p:sp>
          <p:nvSpPr>
            <p:cNvPr id="119" name="Google Shape;119;p21"/>
            <p:cNvSpPr txBox="1"/>
            <p:nvPr/>
          </p:nvSpPr>
          <p:spPr>
            <a:xfrm>
              <a:off x="190500" y="190500"/>
              <a:ext cx="3429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AI Democratisation</a:t>
              </a:r>
              <a:endParaRPr b="1" sz="14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Affordable computing and open-source libraries allow the deployment of low-cost advisory systems on basic hardware.</a:t>
              </a:r>
              <a:endParaRPr b="0" sz="115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0" name="Google Shape;120;p21"/>
          <p:cNvGrpSpPr/>
          <p:nvPr/>
        </p:nvGrpSpPr>
        <p:grpSpPr>
          <a:xfrm>
            <a:off x="4762500" y="2857500"/>
            <a:ext cx="3810000" cy="1428900"/>
            <a:chOff x="0" y="0"/>
            <a:chExt cx="3810000" cy="1428900"/>
          </a:xfrm>
        </p:grpSpPr>
        <p:sp>
          <p:nvSpPr>
            <p:cNvPr id="121" name="Google Shape;121;p21"/>
            <p:cNvSpPr/>
            <p:nvPr/>
          </p:nvSpPr>
          <p:spPr>
            <a:xfrm>
              <a:off x="0" y="0"/>
              <a:ext cx="3810000" cy="1428900"/>
            </a:xfrm>
            <a:prstGeom prst="roundRect">
              <a:avLst>
                <a:gd fmla="val 10666" name="adj"/>
              </a:avLst>
            </a:prstGeom>
            <a:solidFill>
              <a:srgbClr val="FFFFFF">
                <a:alpha val="60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Diverse local crops like Ragi, Maize, and Paddy in a colorful harvest arrangement." id="122" name="Google Shape;122;p2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5250" y="47625"/>
              <a:ext cx="3619500" cy="1333500"/>
            </a:xfrm>
            <a:prstGeom prst="roundRect">
              <a:avLst>
                <a:gd fmla="val 8571" name="adj"/>
              </a:avLst>
            </a:prstGeom>
            <a:noFill/>
            <a:ln>
              <a:noFill/>
            </a:ln>
          </p:spPr>
        </p:pic>
        <p:sp>
          <p:nvSpPr>
            <p:cNvPr id="123" name="Google Shape;123;p21"/>
            <p:cNvSpPr txBox="1"/>
            <p:nvPr/>
          </p:nvSpPr>
          <p:spPr>
            <a:xfrm>
              <a:off x="190500" y="190500"/>
              <a:ext cx="3429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Local Relevance</a:t>
              </a:r>
              <a:endParaRPr b="1" sz="14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Acts as an excellent testbed for Karnataka's diverse agro-climatic zones and major crops like Ragi, Maize, and Paddy.</a:t>
              </a:r>
              <a:endParaRPr b="0" sz="115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2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Objectives of the Project</a:t>
            </a:r>
            <a:endParaRPr b="0" sz="3200">
              <a:solidFill>
                <a:srgbClr val="1B5E2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571500" y="95250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81C7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" name="Google Shape;130;p22"/>
          <p:cNvGrpSpPr/>
          <p:nvPr/>
        </p:nvGrpSpPr>
        <p:grpSpPr>
          <a:xfrm>
            <a:off x="571500" y="1238250"/>
            <a:ext cx="3905400" cy="1428900"/>
            <a:chOff x="0" y="0"/>
            <a:chExt cx="3905400" cy="1428900"/>
          </a:xfrm>
        </p:grpSpPr>
        <p:sp>
          <p:nvSpPr>
            <p:cNvPr id="131" name="Google Shape;131;p22"/>
            <p:cNvSpPr/>
            <p:nvPr/>
          </p:nvSpPr>
          <p:spPr>
            <a:xfrm>
              <a:off x="0" y="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2"/>
            <p:cNvSpPr txBox="1"/>
            <p:nvPr/>
          </p:nvSpPr>
          <p:spPr>
            <a:xfrm>
              <a:off x="190500" y="190500"/>
              <a:ext cx="3524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Main Objective</a:t>
              </a:r>
              <a:endParaRPr b="1" sz="14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Develop a machine learning–based advisory system that predicts soil moisture from weather parameters and recommends crops for improved decision-making.</a:t>
              </a:r>
              <a:endParaRPr b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3" name="Google Shape;133;p22"/>
          <p:cNvGrpSpPr/>
          <p:nvPr/>
        </p:nvGrpSpPr>
        <p:grpSpPr>
          <a:xfrm>
            <a:off x="4667250" y="1238250"/>
            <a:ext cx="3905400" cy="1428900"/>
            <a:chOff x="0" y="0"/>
            <a:chExt cx="3905400" cy="1428900"/>
          </a:xfrm>
        </p:grpSpPr>
        <p:sp>
          <p:nvSpPr>
            <p:cNvPr id="134" name="Google Shape;134;p22"/>
            <p:cNvSpPr/>
            <p:nvPr/>
          </p:nvSpPr>
          <p:spPr>
            <a:xfrm>
              <a:off x="0" y="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2"/>
            <p:cNvSpPr txBox="1"/>
            <p:nvPr/>
          </p:nvSpPr>
          <p:spPr>
            <a:xfrm>
              <a:off x="190500" y="190500"/>
              <a:ext cx="3524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Model Optimization</a:t>
              </a:r>
              <a:endParaRPr b="1" sz="14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Evaluate baseline algorithms (Decision Tree, Random Forest) against Multiple Linear Regression to achieve highest accuracy.</a:t>
              </a:r>
              <a:endParaRPr b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6" name="Google Shape;136;p22"/>
          <p:cNvGrpSpPr/>
          <p:nvPr/>
        </p:nvGrpSpPr>
        <p:grpSpPr>
          <a:xfrm>
            <a:off x="571500" y="2857500"/>
            <a:ext cx="3905400" cy="1428900"/>
            <a:chOff x="0" y="0"/>
            <a:chExt cx="3905400" cy="1428900"/>
          </a:xfrm>
        </p:grpSpPr>
        <p:sp>
          <p:nvSpPr>
            <p:cNvPr id="137" name="Google Shape;137;p22"/>
            <p:cNvSpPr/>
            <p:nvPr/>
          </p:nvSpPr>
          <p:spPr>
            <a:xfrm>
              <a:off x="0" y="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2"/>
            <p:cNvSpPr txBox="1"/>
            <p:nvPr/>
          </p:nvSpPr>
          <p:spPr>
            <a:xfrm>
              <a:off x="190500" y="190500"/>
              <a:ext cx="3524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Accessibility</a:t>
              </a:r>
              <a:endParaRPr b="1" sz="14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Design dual-mode input interfaces: a farmer-friendly descriptive mode and a numeric precision mode for advanced users.</a:t>
              </a:r>
              <a:endParaRPr b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9" name="Google Shape;139;p22"/>
          <p:cNvGrpSpPr/>
          <p:nvPr/>
        </p:nvGrpSpPr>
        <p:grpSpPr>
          <a:xfrm>
            <a:off x="4667250" y="2857500"/>
            <a:ext cx="3905400" cy="1428900"/>
            <a:chOff x="0" y="0"/>
            <a:chExt cx="3905400" cy="1428900"/>
          </a:xfrm>
        </p:grpSpPr>
        <p:sp>
          <p:nvSpPr>
            <p:cNvPr id="140" name="Google Shape;140;p22"/>
            <p:cNvSpPr/>
            <p:nvPr/>
          </p:nvSpPr>
          <p:spPr>
            <a:xfrm>
              <a:off x="0" y="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2"/>
            <p:cNvSpPr txBox="1"/>
            <p:nvPr/>
          </p:nvSpPr>
          <p:spPr>
            <a:xfrm>
              <a:off x="190500" y="190500"/>
              <a:ext cx="3524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Actionable Output</a:t>
              </a:r>
              <a:endParaRPr b="1" sz="14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Generate real-time field advisories (e.g., irrigation needs, drainage, disease risk alerts) alongside tailored crop recommendations.</a:t>
              </a:r>
              <a:endParaRPr b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3"/>
          <p:cNvPicPr preferRelativeResize="0"/>
          <p:nvPr/>
        </p:nvPicPr>
        <p:blipFill rotWithShape="1">
          <a:blip r:embed="rId4">
            <a:alphaModFix/>
          </a:blip>
          <a:srcRect b="0" l="10" r="0" t="0"/>
          <a:stretch/>
        </p:blipFill>
        <p:spPr>
          <a:xfrm>
            <a:off x="0" y="3905250"/>
            <a:ext cx="9144000" cy="1238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" name="Google Shape;147;p23"/>
          <p:cNvGrpSpPr/>
          <p:nvPr/>
        </p:nvGrpSpPr>
        <p:grpSpPr>
          <a:xfrm>
            <a:off x="571500" y="381000"/>
            <a:ext cx="8001000" cy="609600"/>
            <a:chOff x="571500" y="381000"/>
            <a:chExt cx="8001000" cy="609600"/>
          </a:xfrm>
        </p:grpSpPr>
        <p:sp>
          <p:nvSpPr>
            <p:cNvPr id="148" name="Google Shape;148;p23"/>
            <p:cNvSpPr txBox="1"/>
            <p:nvPr/>
          </p:nvSpPr>
          <p:spPr>
            <a:xfrm>
              <a:off x="571500" y="38100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200">
                  <a:solidFill>
                    <a:srgbClr val="1B5E20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Dataset Overview</a:t>
              </a:r>
              <a:endParaRPr b="0" sz="32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149" name="Google Shape;149;p23"/>
            <p:cNvSpPr/>
            <p:nvPr/>
          </p:nvSpPr>
          <p:spPr>
            <a:xfrm>
              <a:off x="571500" y="952500"/>
              <a:ext cx="381000" cy="38100"/>
            </a:xfrm>
            <a:prstGeom prst="roundRect">
              <a:avLst>
                <a:gd fmla="val 50000" name="adj"/>
              </a:avLst>
            </a:prstGeom>
            <a:solidFill>
              <a:srgbClr val="81C78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" name="Google Shape;150;p23"/>
          <p:cNvGrpSpPr/>
          <p:nvPr/>
        </p:nvGrpSpPr>
        <p:grpSpPr>
          <a:xfrm>
            <a:off x="571500" y="1238250"/>
            <a:ext cx="3905400" cy="952500"/>
            <a:chOff x="571500" y="1238250"/>
            <a:chExt cx="3905400" cy="952500"/>
          </a:xfrm>
        </p:grpSpPr>
        <p:sp>
          <p:nvSpPr>
            <p:cNvPr id="151" name="Google Shape;151;p23"/>
            <p:cNvSpPr/>
            <p:nvPr/>
          </p:nvSpPr>
          <p:spPr>
            <a:xfrm>
              <a:off x="571500" y="1238250"/>
              <a:ext cx="3905400" cy="952500"/>
            </a:xfrm>
            <a:prstGeom prst="roundRect">
              <a:avLst>
                <a:gd fmla="val 12000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3"/>
            <p:cNvSpPr txBox="1"/>
            <p:nvPr/>
          </p:nvSpPr>
          <p:spPr>
            <a:xfrm>
              <a:off x="762000" y="1381125"/>
              <a:ext cx="35244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Source Data</a:t>
              </a:r>
              <a:endParaRPr b="1" sz="14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Agronomic field observations representative of Karnataka's major Kharif and Rabi cropping zones.</a:t>
              </a:r>
              <a:endParaRPr b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3" name="Google Shape;153;p23"/>
          <p:cNvGrpSpPr/>
          <p:nvPr/>
        </p:nvGrpSpPr>
        <p:grpSpPr>
          <a:xfrm>
            <a:off x="4667250" y="1238250"/>
            <a:ext cx="3905400" cy="952500"/>
            <a:chOff x="4667250" y="1238250"/>
            <a:chExt cx="3905400" cy="952500"/>
          </a:xfrm>
        </p:grpSpPr>
        <p:sp>
          <p:nvSpPr>
            <p:cNvPr id="154" name="Google Shape;154;p23"/>
            <p:cNvSpPr/>
            <p:nvPr/>
          </p:nvSpPr>
          <p:spPr>
            <a:xfrm>
              <a:off x="4667250" y="1238250"/>
              <a:ext cx="3905400" cy="952500"/>
            </a:xfrm>
            <a:prstGeom prst="roundRect">
              <a:avLst>
                <a:gd fmla="val 12000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3"/>
            <p:cNvSpPr txBox="1"/>
            <p:nvPr/>
          </p:nvSpPr>
          <p:spPr>
            <a:xfrm>
              <a:off x="4857750" y="1381125"/>
              <a:ext cx="35244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Target Variable</a:t>
              </a:r>
              <a:endParaRPr b="1" sz="14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Soil Moisture (%)</a:t>
              </a:r>
              <a:r>
                <a:rPr b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 — Volumetric water content in soil, predicted strictly from weather inputs.</a:t>
              </a:r>
              <a:endParaRPr b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6" name="Google Shape;156;p23"/>
          <p:cNvGrpSpPr/>
          <p:nvPr/>
        </p:nvGrpSpPr>
        <p:grpSpPr>
          <a:xfrm>
            <a:off x="571500" y="2333625"/>
            <a:ext cx="3905400" cy="1381200"/>
            <a:chOff x="571500" y="2333625"/>
            <a:chExt cx="3905400" cy="1381200"/>
          </a:xfrm>
        </p:grpSpPr>
        <p:sp>
          <p:nvSpPr>
            <p:cNvPr id="157" name="Google Shape;157;p23"/>
            <p:cNvSpPr/>
            <p:nvPr/>
          </p:nvSpPr>
          <p:spPr>
            <a:xfrm>
              <a:off x="571500" y="2333625"/>
              <a:ext cx="3905400" cy="1381200"/>
            </a:xfrm>
            <a:prstGeom prst="roundRect">
              <a:avLst>
                <a:gd fmla="val 8275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3"/>
            <p:cNvSpPr txBox="1"/>
            <p:nvPr/>
          </p:nvSpPr>
          <p:spPr>
            <a:xfrm>
              <a:off x="762000" y="2476500"/>
              <a:ext cx="3524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5 Input Features</a:t>
              </a:r>
              <a:endParaRPr b="1" sz="14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● Rainfall (mm) &amp; Temp (°C)</a:t>
              </a:r>
              <a:endParaRPr b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● Humidity (%) &amp; Wind (km/h)</a:t>
              </a:r>
              <a:endParaRPr b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● Day Length (hours)</a:t>
              </a:r>
              <a:endParaRPr b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9" name="Google Shape;159;p23"/>
          <p:cNvGrpSpPr/>
          <p:nvPr/>
        </p:nvGrpSpPr>
        <p:grpSpPr>
          <a:xfrm>
            <a:off x="4667250" y="2333625"/>
            <a:ext cx="3905400" cy="619200"/>
            <a:chOff x="4667250" y="2333625"/>
            <a:chExt cx="3905400" cy="619200"/>
          </a:xfrm>
        </p:grpSpPr>
        <p:sp>
          <p:nvSpPr>
            <p:cNvPr id="160" name="Google Shape;160;p23"/>
            <p:cNvSpPr/>
            <p:nvPr/>
          </p:nvSpPr>
          <p:spPr>
            <a:xfrm>
              <a:off x="4667250" y="2333625"/>
              <a:ext cx="3905400" cy="619200"/>
            </a:xfrm>
            <a:prstGeom prst="roundRect">
              <a:avLst>
                <a:gd fmla="val 18461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3"/>
            <p:cNvSpPr txBox="1"/>
            <p:nvPr/>
          </p:nvSpPr>
          <p:spPr>
            <a:xfrm>
              <a:off x="4857750" y="2428875"/>
              <a:ext cx="352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Pre-processing:</a:t>
              </a:r>
              <a:r>
                <a:rPr b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 Cleaned column formatting; dropped rows with missing (NaN) values.</a:t>
              </a:r>
              <a:endParaRPr b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2" name="Google Shape;162;p23"/>
          <p:cNvGrpSpPr/>
          <p:nvPr/>
        </p:nvGrpSpPr>
        <p:grpSpPr>
          <a:xfrm>
            <a:off x="4667250" y="3095625"/>
            <a:ext cx="3905400" cy="619200"/>
            <a:chOff x="4667250" y="3095625"/>
            <a:chExt cx="3905400" cy="619200"/>
          </a:xfrm>
        </p:grpSpPr>
        <p:sp>
          <p:nvSpPr>
            <p:cNvPr id="163" name="Google Shape;163;p23"/>
            <p:cNvSpPr/>
            <p:nvPr/>
          </p:nvSpPr>
          <p:spPr>
            <a:xfrm>
              <a:off x="4667250" y="3095625"/>
              <a:ext cx="3905400" cy="619200"/>
            </a:xfrm>
            <a:prstGeom prst="roundRect">
              <a:avLst>
                <a:gd fmla="val 18461" name="adj"/>
              </a:avLst>
            </a:prstGeom>
            <a:solidFill>
              <a:srgbClr val="1B5E20"/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3"/>
            <p:cNvSpPr txBox="1"/>
            <p:nvPr/>
          </p:nvSpPr>
          <p:spPr>
            <a:xfrm>
              <a:off x="4857750" y="3190875"/>
              <a:ext cx="352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Crop Database: Rice, Ragi, Maize, Red Gram, Groundnut</a:t>
              </a:r>
              <a:endParaRPr b="1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905250"/>
            <a:ext cx="9144000" cy="12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4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Methodology &amp; Workflow</a:t>
            </a:r>
            <a:endParaRPr b="0" sz="3200">
              <a:solidFill>
                <a:srgbClr val="1B5E2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571500" y="95250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81C7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2" name="Google Shape;172;p24"/>
          <p:cNvGrpSpPr/>
          <p:nvPr/>
        </p:nvGrpSpPr>
        <p:grpSpPr>
          <a:xfrm>
            <a:off x="571500" y="1238250"/>
            <a:ext cx="2619300" cy="1095300"/>
            <a:chOff x="571500" y="1238250"/>
            <a:chExt cx="2619300" cy="1095300"/>
          </a:xfrm>
        </p:grpSpPr>
        <p:sp>
          <p:nvSpPr>
            <p:cNvPr id="173" name="Google Shape;173;p24"/>
            <p:cNvSpPr/>
            <p:nvPr/>
          </p:nvSpPr>
          <p:spPr>
            <a:xfrm>
              <a:off x="571500" y="1238250"/>
              <a:ext cx="2619300" cy="1095300"/>
            </a:xfrm>
            <a:prstGeom prst="roundRect">
              <a:avLst>
                <a:gd fmla="val 10434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4"/>
            <p:cNvSpPr txBox="1"/>
            <p:nvPr/>
          </p:nvSpPr>
          <p:spPr>
            <a:xfrm>
              <a:off x="666750" y="1309688"/>
              <a:ext cx="24288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400" u="none" strike="noStrike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Step 1 — Data Ingestion</a:t>
              </a:r>
              <a:endParaRPr b="1" i="0" sz="1400" u="none" strike="noStrike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" sz="1100" u="none" strike="noStrike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Ingest CSV/Excel, normalise columns, and handle missing values.</a:t>
              </a:r>
              <a:endParaRPr b="1" i="0" sz="1100" u="none" strike="noStrike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5" name="Google Shape;175;p24"/>
          <p:cNvGrpSpPr/>
          <p:nvPr/>
        </p:nvGrpSpPr>
        <p:grpSpPr>
          <a:xfrm>
            <a:off x="3262313" y="1238250"/>
            <a:ext cx="2619300" cy="1095300"/>
            <a:chOff x="3262313" y="1238250"/>
            <a:chExt cx="2619300" cy="1095300"/>
          </a:xfrm>
        </p:grpSpPr>
        <p:sp>
          <p:nvSpPr>
            <p:cNvPr id="176" name="Google Shape;176;p24"/>
            <p:cNvSpPr/>
            <p:nvPr/>
          </p:nvSpPr>
          <p:spPr>
            <a:xfrm>
              <a:off x="3262313" y="1238250"/>
              <a:ext cx="2619300" cy="1095300"/>
            </a:xfrm>
            <a:prstGeom prst="roundRect">
              <a:avLst>
                <a:gd fmla="val 10434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4"/>
            <p:cNvSpPr txBox="1"/>
            <p:nvPr/>
          </p:nvSpPr>
          <p:spPr>
            <a:xfrm>
              <a:off x="3357563" y="1309688"/>
              <a:ext cx="24288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400" u="none" strike="noStrike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Step 2 — Train-Test Split</a:t>
              </a:r>
              <a:endParaRPr b="1" i="0" sz="1400" u="none" strike="noStrike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" sz="1100" u="none" strike="noStrike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Divide data into 80% training and 20% testing sets using Scikit-learn.</a:t>
              </a:r>
              <a:endParaRPr b="1" i="0" sz="1100" u="none" strike="noStrike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8" name="Google Shape;178;p24"/>
          <p:cNvGrpSpPr/>
          <p:nvPr/>
        </p:nvGrpSpPr>
        <p:grpSpPr>
          <a:xfrm>
            <a:off x="5953125" y="1238250"/>
            <a:ext cx="2619300" cy="1095300"/>
            <a:chOff x="5953125" y="1238250"/>
            <a:chExt cx="2619300" cy="1095300"/>
          </a:xfrm>
        </p:grpSpPr>
        <p:sp>
          <p:nvSpPr>
            <p:cNvPr id="179" name="Google Shape;179;p24"/>
            <p:cNvSpPr/>
            <p:nvPr/>
          </p:nvSpPr>
          <p:spPr>
            <a:xfrm>
              <a:off x="5953125" y="1238250"/>
              <a:ext cx="2619300" cy="1095300"/>
            </a:xfrm>
            <a:prstGeom prst="roundRect">
              <a:avLst>
                <a:gd fmla="val 10434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4"/>
            <p:cNvSpPr txBox="1"/>
            <p:nvPr/>
          </p:nvSpPr>
          <p:spPr>
            <a:xfrm>
              <a:off x="6048375" y="1309688"/>
              <a:ext cx="24288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400" u="none" strike="noStrike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Step 3 — Exploratory Analysis</a:t>
              </a:r>
              <a:endParaRPr b="1" i="0" sz="1400" u="none" strike="noStrike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" sz="1100" u="none" strike="noStrike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Generate feature correlation heatmaps to understand meteorological relationships.</a:t>
              </a:r>
              <a:endParaRPr b="1" i="0" sz="1100" u="none" strike="noStrike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1" name="Google Shape;181;p24"/>
          <p:cNvGrpSpPr/>
          <p:nvPr/>
        </p:nvGrpSpPr>
        <p:grpSpPr>
          <a:xfrm>
            <a:off x="571500" y="2571750"/>
            <a:ext cx="2619300" cy="1095300"/>
            <a:chOff x="571500" y="2571750"/>
            <a:chExt cx="2619300" cy="1095300"/>
          </a:xfrm>
        </p:grpSpPr>
        <p:sp>
          <p:nvSpPr>
            <p:cNvPr id="182" name="Google Shape;182;p24"/>
            <p:cNvSpPr/>
            <p:nvPr/>
          </p:nvSpPr>
          <p:spPr>
            <a:xfrm>
              <a:off x="571500" y="2571750"/>
              <a:ext cx="2619300" cy="1095300"/>
            </a:xfrm>
            <a:prstGeom prst="roundRect">
              <a:avLst>
                <a:gd fmla="val 10434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4"/>
            <p:cNvSpPr txBox="1"/>
            <p:nvPr/>
          </p:nvSpPr>
          <p:spPr>
            <a:xfrm>
              <a:off x="666750" y="2643188"/>
              <a:ext cx="24288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400" u="none" strike="noStrike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Step 4 — Algorithm Comparison</a:t>
              </a:r>
              <a:endParaRPr b="1" i="0" sz="1400" u="none" strike="noStrike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" sz="1100" u="none" strike="noStrike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Train baseline Decision Tree and Random Forest regressors.</a:t>
              </a:r>
              <a:endParaRPr b="1" i="0" sz="1100" u="none" strike="noStrike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4" name="Google Shape;184;p24"/>
          <p:cNvGrpSpPr/>
          <p:nvPr/>
        </p:nvGrpSpPr>
        <p:grpSpPr>
          <a:xfrm>
            <a:off x="3262313" y="2571750"/>
            <a:ext cx="2619300" cy="1095300"/>
            <a:chOff x="3262313" y="2571750"/>
            <a:chExt cx="2619300" cy="1095300"/>
          </a:xfrm>
        </p:grpSpPr>
        <p:sp>
          <p:nvSpPr>
            <p:cNvPr id="185" name="Google Shape;185;p24"/>
            <p:cNvSpPr/>
            <p:nvPr/>
          </p:nvSpPr>
          <p:spPr>
            <a:xfrm>
              <a:off x="3262313" y="2571750"/>
              <a:ext cx="2619300" cy="1095300"/>
            </a:xfrm>
            <a:prstGeom prst="roundRect">
              <a:avLst>
                <a:gd fmla="val 10434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4"/>
            <p:cNvSpPr txBox="1"/>
            <p:nvPr/>
          </p:nvSpPr>
          <p:spPr>
            <a:xfrm>
              <a:off x="3357563" y="2643188"/>
              <a:ext cx="24288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400" u="none" strike="noStrike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Step 5 — Model Deployment</a:t>
              </a:r>
              <a:endParaRPr b="1" i="0" sz="1400" u="none" strike="noStrike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" sz="1100" u="none" strike="noStrike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Implement Multiple Linear Regression model for real-time field predictions.</a:t>
              </a:r>
              <a:endParaRPr b="1" i="0" sz="1100" u="none" strike="noStrike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7" name="Google Shape;187;p24"/>
          <p:cNvGrpSpPr/>
          <p:nvPr/>
        </p:nvGrpSpPr>
        <p:grpSpPr>
          <a:xfrm>
            <a:off x="5953125" y="2571750"/>
            <a:ext cx="2619300" cy="1095300"/>
            <a:chOff x="5953125" y="2571750"/>
            <a:chExt cx="2619300" cy="1095300"/>
          </a:xfrm>
        </p:grpSpPr>
        <p:sp>
          <p:nvSpPr>
            <p:cNvPr id="188" name="Google Shape;188;p24"/>
            <p:cNvSpPr/>
            <p:nvPr/>
          </p:nvSpPr>
          <p:spPr>
            <a:xfrm>
              <a:off x="5953125" y="2571750"/>
              <a:ext cx="2619300" cy="1095300"/>
            </a:xfrm>
            <a:prstGeom prst="roundRect">
              <a:avLst>
                <a:gd fmla="val 10434" name="adj"/>
              </a:avLst>
            </a:prstGeom>
            <a:solidFill>
              <a:srgbClr val="1B5E20"/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4"/>
            <p:cNvSpPr txBox="1"/>
            <p:nvPr/>
          </p:nvSpPr>
          <p:spPr>
            <a:xfrm>
              <a:off x="6048375" y="2643188"/>
              <a:ext cx="24288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400" u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Step 6 — Recommendation</a:t>
              </a:r>
              <a:endParaRPr b="1" i="0" sz="1400" u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" sz="1100" u="none" strike="noStrike">
                  <a:solidFill>
                    <a:srgbClr val="F1F8E9"/>
                  </a:solidFill>
                  <a:latin typeface="Roboto"/>
                  <a:ea typeface="Roboto"/>
                  <a:cs typeface="Roboto"/>
                  <a:sym typeface="Roboto"/>
                </a:rPr>
                <a:t>Deterministic rule-based engine for crop selection and threshold-based alerts.</a:t>
              </a:r>
              <a:endParaRPr b="1" i="0" sz="1100" u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905250"/>
            <a:ext cx="9144000" cy="1238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96" name="Google Shape;196;p25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Tools &amp; Technologies Used</a:t>
            </a:r>
            <a:endParaRPr b="0" sz="3200">
              <a:solidFill>
                <a:srgbClr val="1B5E2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97" name="Google Shape;197;p25"/>
          <p:cNvSpPr/>
          <p:nvPr/>
        </p:nvSpPr>
        <p:spPr>
          <a:xfrm>
            <a:off x="571500" y="95250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81C7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" name="Google Shape;198;p25"/>
          <p:cNvGrpSpPr/>
          <p:nvPr/>
        </p:nvGrpSpPr>
        <p:grpSpPr>
          <a:xfrm>
            <a:off x="571500" y="1238250"/>
            <a:ext cx="3905400" cy="1047900"/>
            <a:chOff x="0" y="0"/>
            <a:chExt cx="3905400" cy="1047900"/>
          </a:xfrm>
        </p:grpSpPr>
        <p:sp>
          <p:nvSpPr>
            <p:cNvPr id="199" name="Google Shape;199;p25"/>
            <p:cNvSpPr/>
            <p:nvPr/>
          </p:nvSpPr>
          <p:spPr>
            <a:xfrm>
              <a:off x="0" y="0"/>
              <a:ext cx="3905400" cy="1047900"/>
            </a:xfrm>
            <a:prstGeom prst="roundRect">
              <a:avLst>
                <a:gd fmla="val 10909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5"/>
            <p:cNvSpPr txBox="1"/>
            <p:nvPr/>
          </p:nvSpPr>
          <p:spPr>
            <a:xfrm>
              <a:off x="190500" y="190500"/>
              <a:ext cx="35244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Programming Language</a:t>
              </a:r>
              <a:endParaRPr b="1" sz="14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Python — used for building the lightweight, scalable advisory system.</a:t>
              </a:r>
              <a:endParaRPr b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1" name="Google Shape;201;p25"/>
          <p:cNvGrpSpPr/>
          <p:nvPr/>
        </p:nvGrpSpPr>
        <p:grpSpPr>
          <a:xfrm>
            <a:off x="4667250" y="1238250"/>
            <a:ext cx="3905400" cy="1047900"/>
            <a:chOff x="0" y="0"/>
            <a:chExt cx="3905400" cy="1047900"/>
          </a:xfrm>
        </p:grpSpPr>
        <p:sp>
          <p:nvSpPr>
            <p:cNvPr id="202" name="Google Shape;202;p25"/>
            <p:cNvSpPr/>
            <p:nvPr/>
          </p:nvSpPr>
          <p:spPr>
            <a:xfrm>
              <a:off x="0" y="0"/>
              <a:ext cx="3905400" cy="1047900"/>
            </a:xfrm>
            <a:prstGeom prst="roundRect">
              <a:avLst>
                <a:gd fmla="val 10909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5"/>
            <p:cNvSpPr txBox="1"/>
            <p:nvPr/>
          </p:nvSpPr>
          <p:spPr>
            <a:xfrm>
              <a:off x="190500" y="190500"/>
              <a:ext cx="35244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Data Manipulation Libraries</a:t>
              </a:r>
              <a:endParaRPr b="1" sz="14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Pandas and NumPy for tabular record handling, dataset formatting, and numerical operations.</a:t>
              </a:r>
              <a:endParaRPr b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4" name="Google Shape;204;p25"/>
          <p:cNvGrpSpPr/>
          <p:nvPr/>
        </p:nvGrpSpPr>
        <p:grpSpPr>
          <a:xfrm>
            <a:off x="571500" y="2476500"/>
            <a:ext cx="3905400" cy="1285800"/>
            <a:chOff x="0" y="0"/>
            <a:chExt cx="3905400" cy="1285800"/>
          </a:xfrm>
        </p:grpSpPr>
        <p:sp>
          <p:nvSpPr>
            <p:cNvPr id="205" name="Google Shape;205;p25"/>
            <p:cNvSpPr/>
            <p:nvPr/>
          </p:nvSpPr>
          <p:spPr>
            <a:xfrm>
              <a:off x="0" y="0"/>
              <a:ext cx="3905400" cy="1285800"/>
            </a:xfrm>
            <a:prstGeom prst="roundRect">
              <a:avLst>
                <a:gd fmla="val 8888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5"/>
            <p:cNvSpPr txBox="1"/>
            <p:nvPr/>
          </p:nvSpPr>
          <p:spPr>
            <a:xfrm>
              <a:off x="190500" y="190500"/>
              <a:ext cx="35244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Machine Learning Framework</a:t>
              </a:r>
              <a:endParaRPr b="1" sz="14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Scikit-learn for train_test_split, regression algorithms (Multiple Linear, Decision Tree, Random Forest), and error metrics.</a:t>
              </a:r>
              <a:endParaRPr b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7" name="Google Shape;207;p25"/>
          <p:cNvGrpSpPr/>
          <p:nvPr/>
        </p:nvGrpSpPr>
        <p:grpSpPr>
          <a:xfrm>
            <a:off x="4667250" y="2476500"/>
            <a:ext cx="3905400" cy="1047900"/>
            <a:chOff x="0" y="0"/>
            <a:chExt cx="3905400" cy="1047900"/>
          </a:xfrm>
        </p:grpSpPr>
        <p:sp>
          <p:nvSpPr>
            <p:cNvPr id="208" name="Google Shape;208;p25"/>
            <p:cNvSpPr/>
            <p:nvPr/>
          </p:nvSpPr>
          <p:spPr>
            <a:xfrm>
              <a:off x="0" y="0"/>
              <a:ext cx="3905400" cy="1047900"/>
            </a:xfrm>
            <a:prstGeom prst="roundRect">
              <a:avLst>
                <a:gd fmla="val 10909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5"/>
            <p:cNvSpPr txBox="1"/>
            <p:nvPr/>
          </p:nvSpPr>
          <p:spPr>
            <a:xfrm>
              <a:off x="190500" y="190500"/>
              <a:ext cx="35244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Visualization Tools</a:t>
              </a:r>
              <a:endParaRPr b="1" sz="14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Used to map model evaluations and error metrics via generated graphs and bar charts.</a:t>
              </a:r>
              <a:endParaRPr b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4" name="Google Shape;21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905250"/>
            <a:ext cx="9144000" cy="1238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6" name="Google Shape;216;p26"/>
          <p:cNvGrpSpPr/>
          <p:nvPr/>
        </p:nvGrpSpPr>
        <p:grpSpPr>
          <a:xfrm>
            <a:off x="571500" y="381000"/>
            <a:ext cx="8001000" cy="752475"/>
            <a:chOff x="0" y="0"/>
            <a:chExt cx="8001000" cy="752475"/>
          </a:xfrm>
        </p:grpSpPr>
        <p:sp>
          <p:nvSpPr>
            <p:cNvPr id="217" name="Google Shape;217;p26"/>
            <p:cNvSpPr txBox="1"/>
            <p:nvPr/>
          </p:nvSpPr>
          <p:spPr>
            <a:xfrm>
              <a:off x="0" y="0"/>
              <a:ext cx="8001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2890">
                  <a:solidFill>
                    <a:srgbClr val="1B5E20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Hyperparameter Tuning &amp; Optimization</a:t>
              </a:r>
              <a:endParaRPr b="0" i="0" sz="289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218" name="Google Shape;218;p26"/>
            <p:cNvSpPr/>
            <p:nvPr/>
          </p:nvSpPr>
          <p:spPr>
            <a:xfrm>
              <a:off x="0" y="714375"/>
              <a:ext cx="381000" cy="38100"/>
            </a:xfrm>
            <a:prstGeom prst="roundRect">
              <a:avLst>
                <a:gd fmla="val 50000" name="adj"/>
              </a:avLst>
            </a:prstGeom>
            <a:solidFill>
              <a:srgbClr val="81C78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9" name="Google Shape;219;p26"/>
          <p:cNvSpPr/>
          <p:nvPr/>
        </p:nvSpPr>
        <p:spPr>
          <a:xfrm>
            <a:off x="571500" y="1333500"/>
            <a:ext cx="3810000" cy="1047900"/>
          </a:xfrm>
          <a:prstGeom prst="roundRect">
            <a:avLst>
              <a:gd fmla="val 10909" name="adj"/>
            </a:avLst>
          </a:prstGeom>
          <a:solidFill>
            <a:srgbClr val="FFFFFF">
              <a:alpha val="85000"/>
            </a:srgbClr>
          </a:solidFill>
          <a:ln cap="flat" cmpd="sng" w="9525">
            <a:solidFill>
              <a:srgbClr val="81C7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6"/>
          <p:cNvSpPr/>
          <p:nvPr/>
        </p:nvSpPr>
        <p:spPr>
          <a:xfrm>
            <a:off x="4667250" y="1333500"/>
            <a:ext cx="3905400" cy="1047900"/>
          </a:xfrm>
          <a:prstGeom prst="roundRect">
            <a:avLst>
              <a:gd fmla="val 10909" name="adj"/>
            </a:avLst>
          </a:prstGeom>
          <a:solidFill>
            <a:srgbClr val="FFFFFF">
              <a:alpha val="85000"/>
            </a:srgbClr>
          </a:solidFill>
          <a:ln cap="flat" cmpd="sng" w="9525">
            <a:solidFill>
              <a:srgbClr val="81C7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6"/>
          <p:cNvSpPr/>
          <p:nvPr/>
        </p:nvSpPr>
        <p:spPr>
          <a:xfrm>
            <a:off x="571500" y="2571750"/>
            <a:ext cx="3810000" cy="1428900"/>
          </a:xfrm>
          <a:prstGeom prst="roundRect">
            <a:avLst>
              <a:gd fmla="val 8000" name="adj"/>
            </a:avLst>
          </a:prstGeom>
          <a:solidFill>
            <a:srgbClr val="1B5E2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6"/>
          <p:cNvSpPr/>
          <p:nvPr/>
        </p:nvSpPr>
        <p:spPr>
          <a:xfrm>
            <a:off x="762000" y="2714625"/>
            <a:ext cx="762000" cy="228600"/>
          </a:xfrm>
          <a:prstGeom prst="roundRect">
            <a:avLst>
              <a:gd fmla="val 16666" name="adj"/>
            </a:avLst>
          </a:prstGeom>
          <a:solidFill>
            <a:srgbClr val="81C7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3" name="Google Shape;223;p26"/>
          <p:cNvGrpSpPr/>
          <p:nvPr/>
        </p:nvGrpSpPr>
        <p:grpSpPr>
          <a:xfrm>
            <a:off x="4667250" y="2571750"/>
            <a:ext cx="1857300" cy="1428900"/>
            <a:chOff x="0" y="238125"/>
            <a:chExt cx="1857300" cy="1428900"/>
          </a:xfrm>
        </p:grpSpPr>
        <p:sp>
          <p:nvSpPr>
            <p:cNvPr id="224" name="Google Shape;224;p26"/>
            <p:cNvSpPr/>
            <p:nvPr/>
          </p:nvSpPr>
          <p:spPr>
            <a:xfrm>
              <a:off x="0" y="238125"/>
              <a:ext cx="1857300" cy="1428900"/>
            </a:xfrm>
            <a:prstGeom prst="roundRect">
              <a:avLst>
                <a:gd fmla="val 8000" name="adj"/>
              </a:avLst>
            </a:prstGeom>
            <a:solidFill>
              <a:srgbClr val="FFFFFF">
                <a:alpha val="90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6"/>
            <p:cNvSpPr txBox="1"/>
            <p:nvPr/>
          </p:nvSpPr>
          <p:spPr>
            <a:xfrm>
              <a:off x="0" y="428625"/>
              <a:ext cx="18573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1B5E20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0.96</a:t>
              </a:r>
              <a:endParaRPr b="0" sz="28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88E3C"/>
                  </a:solidFill>
                  <a:latin typeface="Roboto"/>
                  <a:ea typeface="Roboto"/>
                  <a:cs typeface="Roboto"/>
                  <a:sym typeface="Roboto"/>
                </a:rPr>
                <a:t>OPTIMIZED R² SCORE</a:t>
              </a:r>
              <a:endParaRPr b="0" sz="1000">
                <a:solidFill>
                  <a:srgbClr val="388E3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6" name="Google Shape;226;p26"/>
          <p:cNvGrpSpPr/>
          <p:nvPr/>
        </p:nvGrpSpPr>
        <p:grpSpPr>
          <a:xfrm>
            <a:off x="6715125" y="2571750"/>
            <a:ext cx="1857300" cy="1428900"/>
            <a:chOff x="0" y="238125"/>
            <a:chExt cx="1857300" cy="1428900"/>
          </a:xfrm>
        </p:grpSpPr>
        <p:sp>
          <p:nvSpPr>
            <p:cNvPr id="227" name="Google Shape;227;p26"/>
            <p:cNvSpPr/>
            <p:nvPr/>
          </p:nvSpPr>
          <p:spPr>
            <a:xfrm>
              <a:off x="0" y="238125"/>
              <a:ext cx="1857300" cy="1428900"/>
            </a:xfrm>
            <a:prstGeom prst="roundRect">
              <a:avLst>
                <a:gd fmla="val 8000" name="adj"/>
              </a:avLst>
            </a:prstGeom>
            <a:solidFill>
              <a:srgbClr val="FFFFFF">
                <a:alpha val="90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6"/>
            <p:cNvSpPr txBox="1"/>
            <p:nvPr/>
          </p:nvSpPr>
          <p:spPr>
            <a:xfrm>
              <a:off x="0" y="428625"/>
              <a:ext cx="18573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1B5E20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15.21</a:t>
              </a:r>
              <a:endParaRPr b="0" sz="28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88E3C"/>
                  </a:solidFill>
                  <a:latin typeface="Roboto"/>
                  <a:ea typeface="Roboto"/>
                  <a:cs typeface="Roboto"/>
                  <a:sym typeface="Roboto"/>
                </a:rPr>
                <a:t>REDUCED MSE</a:t>
              </a:r>
              <a:endParaRPr b="0" sz="1000">
                <a:solidFill>
                  <a:srgbClr val="388E3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29" name="Google Shape;229;p26"/>
          <p:cNvSpPr txBox="1"/>
          <p:nvPr/>
        </p:nvSpPr>
        <p:spPr>
          <a:xfrm>
            <a:off x="762000" y="1476375"/>
            <a:ext cx="3429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3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rPr>
              <a:t>Systematic Search Strategy</a:t>
            </a:r>
            <a:endParaRPr b="1" sz="1203">
              <a:solidFill>
                <a:srgbClr val="1B5E2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018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Optimal mathematical parameters are identified using </a:t>
            </a:r>
            <a:r>
              <a:rPr b="1" lang="en" sz="1018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GridSearchCV</a:t>
            </a:r>
            <a:r>
              <a:rPr b="0" lang="en" sz="1018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 with </a:t>
            </a:r>
            <a:r>
              <a:rPr b="1" lang="en" sz="1018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5-fold cross-validation</a:t>
            </a:r>
            <a:r>
              <a:rPr b="0" lang="en" sz="1018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 to maximize predictive capability.</a:t>
            </a:r>
            <a:endParaRPr b="0" sz="1018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26"/>
          <p:cNvSpPr txBox="1"/>
          <p:nvPr/>
        </p:nvSpPr>
        <p:spPr>
          <a:xfrm>
            <a:off x="4857750" y="1476375"/>
            <a:ext cx="35244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3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rPr>
              <a:t>Parameters Optimized</a:t>
            </a:r>
            <a:endParaRPr b="1" sz="1203">
              <a:solidFill>
                <a:srgbClr val="1B5E2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018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Rigorously tested </a:t>
            </a:r>
            <a:r>
              <a:rPr b="0" i="1" lang="en" sz="1018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n_estimators</a:t>
            </a:r>
            <a:r>
              <a:rPr b="0" lang="en" sz="1018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0" i="1" lang="en" sz="1018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max_features</a:t>
            </a:r>
            <a:r>
              <a:rPr b="0" lang="en" sz="1018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, and splitting logic (</a:t>
            </a:r>
            <a:r>
              <a:rPr b="0" i="1" lang="en" sz="1018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min_samples_split</a:t>
            </a:r>
            <a:r>
              <a:rPr b="0" lang="en" sz="1018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 &amp; </a:t>
            </a:r>
            <a:r>
              <a:rPr b="0" i="1" lang="en" sz="1018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leaf</a:t>
            </a:r>
            <a:r>
              <a:rPr b="0" lang="en" sz="1018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rPr>
              <a:t>) for the ensemble.</a:t>
            </a:r>
            <a:endParaRPr b="0" sz="1018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26"/>
          <p:cNvSpPr txBox="1"/>
          <p:nvPr/>
        </p:nvSpPr>
        <p:spPr>
          <a:xfrm>
            <a:off x="762000" y="2714625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Efficiency</a:t>
            </a:r>
            <a:endParaRPr b="1"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26"/>
          <p:cNvSpPr txBox="1"/>
          <p:nvPr/>
        </p:nvSpPr>
        <p:spPr>
          <a:xfrm>
            <a:off x="762000" y="3048000"/>
            <a:ext cx="34290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150 Trees: The "Sweet Spot"</a:t>
            </a:r>
            <a:endParaRPr b="1"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E8F5E9"/>
                </a:solidFill>
                <a:latin typeface="Roboto"/>
                <a:ea typeface="Roboto"/>
                <a:cs typeface="Roboto"/>
                <a:sym typeface="Roboto"/>
              </a:rPr>
              <a:t>Found the balance between accuracy and speed. Scaling beyond 200 trees increased inference time with &lt;0.5% return—critical for low-power rural devices.</a:t>
            </a:r>
            <a:endParaRPr b="0" sz="1100">
              <a:solidFill>
                <a:srgbClr val="E8F5E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905250"/>
            <a:ext cx="9144000" cy="1238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" name="Google Shape;238;p27"/>
          <p:cNvGrpSpPr/>
          <p:nvPr/>
        </p:nvGrpSpPr>
        <p:grpSpPr>
          <a:xfrm>
            <a:off x="571500" y="381000"/>
            <a:ext cx="8001000" cy="609600"/>
            <a:chOff x="571500" y="381000"/>
            <a:chExt cx="8001000" cy="609600"/>
          </a:xfrm>
        </p:grpSpPr>
        <p:sp>
          <p:nvSpPr>
            <p:cNvPr id="239" name="Google Shape;239;p27"/>
            <p:cNvSpPr txBox="1"/>
            <p:nvPr/>
          </p:nvSpPr>
          <p:spPr>
            <a:xfrm>
              <a:off x="571500" y="38100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200">
                  <a:solidFill>
                    <a:srgbClr val="1B5E20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Results: Model Performance</a:t>
              </a:r>
              <a:endParaRPr b="0" sz="32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240" name="Google Shape;240;p27"/>
            <p:cNvSpPr/>
            <p:nvPr/>
          </p:nvSpPr>
          <p:spPr>
            <a:xfrm>
              <a:off x="571500" y="952500"/>
              <a:ext cx="381000" cy="38100"/>
            </a:xfrm>
            <a:prstGeom prst="roundRect">
              <a:avLst>
                <a:gd fmla="val 50000" name="adj"/>
              </a:avLst>
            </a:prstGeom>
            <a:solidFill>
              <a:srgbClr val="81C78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1" name="Google Shape;241;p27"/>
          <p:cNvGrpSpPr/>
          <p:nvPr/>
        </p:nvGrpSpPr>
        <p:grpSpPr>
          <a:xfrm>
            <a:off x="571500" y="1238250"/>
            <a:ext cx="8001000" cy="2857650"/>
            <a:chOff x="571500" y="1238250"/>
            <a:chExt cx="8001000" cy="2857650"/>
          </a:xfrm>
        </p:grpSpPr>
        <p:sp>
          <p:nvSpPr>
            <p:cNvPr id="242" name="Google Shape;242;p27"/>
            <p:cNvSpPr/>
            <p:nvPr/>
          </p:nvSpPr>
          <p:spPr>
            <a:xfrm>
              <a:off x="571500" y="1238250"/>
              <a:ext cx="8001000" cy="2857500"/>
            </a:xfrm>
            <a:prstGeom prst="roundRect">
              <a:avLst>
                <a:gd fmla="val 4000" name="adj"/>
              </a:avLst>
            </a:prstGeom>
            <a:solidFill>
              <a:srgbClr val="FFFFFF">
                <a:alpha val="90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7"/>
            <p:cNvSpPr/>
            <p:nvPr/>
          </p:nvSpPr>
          <p:spPr>
            <a:xfrm>
              <a:off x="571500" y="1238250"/>
              <a:ext cx="8001000" cy="476400"/>
            </a:xfrm>
            <a:prstGeom prst="roundRect">
              <a:avLst>
                <a:gd fmla="val 24000" name="adj"/>
              </a:avLst>
            </a:prstGeom>
            <a:solidFill>
              <a:srgbClr val="E8F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7"/>
            <p:cNvSpPr/>
            <p:nvPr/>
          </p:nvSpPr>
          <p:spPr>
            <a:xfrm>
              <a:off x="571500" y="1571625"/>
              <a:ext cx="8001000" cy="142800"/>
            </a:xfrm>
            <a:prstGeom prst="rect">
              <a:avLst/>
            </a:prstGeom>
            <a:solidFill>
              <a:srgbClr val="E8F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45" name="Google Shape;245;p27"/>
            <p:cNvCxnSpPr/>
            <p:nvPr/>
          </p:nvCxnSpPr>
          <p:spPr>
            <a:xfrm>
              <a:off x="571500" y="171450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46" name="Google Shape;246;p27"/>
            <p:cNvGrpSpPr/>
            <p:nvPr/>
          </p:nvGrpSpPr>
          <p:grpSpPr>
            <a:xfrm>
              <a:off x="762000" y="1238250"/>
              <a:ext cx="7239000" cy="476400"/>
              <a:chOff x="762000" y="1238250"/>
              <a:chExt cx="7239000" cy="476400"/>
            </a:xfrm>
          </p:grpSpPr>
          <p:sp>
            <p:nvSpPr>
              <p:cNvPr id="247" name="Google Shape;247;p27"/>
              <p:cNvSpPr txBox="1"/>
              <p:nvPr/>
            </p:nvSpPr>
            <p:spPr>
              <a:xfrm>
                <a:off x="762000" y="1238250"/>
                <a:ext cx="2095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B5E2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Model</a:t>
                </a:r>
                <a:endParaRPr b="1" sz="1400">
                  <a:solidFill>
                    <a:srgbClr val="1B5E2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48" name="Google Shape;248;p27"/>
              <p:cNvSpPr txBox="1"/>
              <p:nvPr/>
            </p:nvSpPr>
            <p:spPr>
              <a:xfrm>
                <a:off x="2857500" y="1238250"/>
                <a:ext cx="1714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B5E2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R²</a:t>
                </a:r>
                <a:endParaRPr b="1" sz="1400">
                  <a:solidFill>
                    <a:srgbClr val="1B5E2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49" name="Google Shape;249;p27"/>
              <p:cNvSpPr txBox="1"/>
              <p:nvPr/>
            </p:nvSpPr>
            <p:spPr>
              <a:xfrm>
                <a:off x="4572000" y="1238250"/>
                <a:ext cx="1714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B5E2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MAE (%)</a:t>
                </a:r>
                <a:endParaRPr b="1" sz="1400">
                  <a:solidFill>
                    <a:srgbClr val="1B5E2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50" name="Google Shape;250;p27"/>
              <p:cNvSpPr txBox="1"/>
              <p:nvPr/>
            </p:nvSpPr>
            <p:spPr>
              <a:xfrm>
                <a:off x="6286500" y="1238250"/>
                <a:ext cx="1714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B5E2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RMSE (%)</a:t>
                </a:r>
                <a:endParaRPr b="1" sz="1400">
                  <a:solidFill>
                    <a:srgbClr val="1B5E2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251" name="Google Shape;251;p27"/>
            <p:cNvGrpSpPr/>
            <p:nvPr/>
          </p:nvGrpSpPr>
          <p:grpSpPr>
            <a:xfrm>
              <a:off x="762000" y="1714500"/>
              <a:ext cx="7239000" cy="571500"/>
              <a:chOff x="762000" y="1714500"/>
              <a:chExt cx="7239000" cy="571500"/>
            </a:xfrm>
          </p:grpSpPr>
          <p:sp>
            <p:nvSpPr>
              <p:cNvPr id="252" name="Google Shape;252;p27"/>
              <p:cNvSpPr txBox="1"/>
              <p:nvPr/>
            </p:nvSpPr>
            <p:spPr>
              <a:xfrm>
                <a:off x="762000" y="1714500"/>
                <a:ext cx="2095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2E7D32"/>
                    </a:solidFill>
                    <a:latin typeface="Roboto"/>
                    <a:ea typeface="Roboto"/>
                    <a:cs typeface="Roboto"/>
                    <a:sym typeface="Roboto"/>
                  </a:rPr>
                  <a:t>Decision Tree</a:t>
                </a:r>
                <a:endParaRPr b="0" sz="12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53" name="Google Shape;253;p27"/>
              <p:cNvSpPr txBox="1"/>
              <p:nvPr/>
            </p:nvSpPr>
            <p:spPr>
              <a:xfrm>
                <a:off x="2857500" y="1714500"/>
                <a:ext cx="1714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333333"/>
                    </a:solidFill>
                    <a:latin typeface="Roboto"/>
                    <a:ea typeface="Roboto"/>
                    <a:cs typeface="Roboto"/>
                    <a:sym typeface="Roboto"/>
                  </a:rPr>
                  <a:t>0.8700</a:t>
                </a:r>
                <a:endParaRPr b="1" sz="130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54" name="Google Shape;254;p27"/>
              <p:cNvSpPr txBox="1"/>
              <p:nvPr/>
            </p:nvSpPr>
            <p:spPr>
              <a:xfrm>
                <a:off x="4572000" y="1714500"/>
                <a:ext cx="1714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333333"/>
                    </a:solidFill>
                    <a:latin typeface="Roboto"/>
                    <a:ea typeface="Roboto"/>
                    <a:cs typeface="Roboto"/>
                    <a:sym typeface="Roboto"/>
                  </a:rPr>
                  <a:t>5.31%</a:t>
                </a:r>
                <a:endParaRPr b="1" sz="130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55" name="Google Shape;255;p27"/>
              <p:cNvSpPr txBox="1"/>
              <p:nvPr/>
            </p:nvSpPr>
            <p:spPr>
              <a:xfrm>
                <a:off x="6286500" y="1714500"/>
                <a:ext cx="1714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333333"/>
                    </a:solidFill>
                    <a:latin typeface="Roboto"/>
                    <a:ea typeface="Roboto"/>
                    <a:cs typeface="Roboto"/>
                    <a:sym typeface="Roboto"/>
                  </a:rPr>
                  <a:t>6.84%</a:t>
                </a:r>
                <a:endParaRPr b="1" sz="130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cxnSp>
          <p:nvCxnSpPr>
            <p:cNvPr id="256" name="Google Shape;256;p27"/>
            <p:cNvCxnSpPr/>
            <p:nvPr/>
          </p:nvCxnSpPr>
          <p:spPr>
            <a:xfrm>
              <a:off x="762000" y="2286000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57" name="Google Shape;257;p27"/>
            <p:cNvGrpSpPr/>
            <p:nvPr/>
          </p:nvGrpSpPr>
          <p:grpSpPr>
            <a:xfrm>
              <a:off x="762000" y="2286000"/>
              <a:ext cx="7239000" cy="571500"/>
              <a:chOff x="762000" y="2286000"/>
              <a:chExt cx="7239000" cy="571500"/>
            </a:xfrm>
          </p:grpSpPr>
          <p:sp>
            <p:nvSpPr>
              <p:cNvPr id="258" name="Google Shape;258;p27"/>
              <p:cNvSpPr txBox="1"/>
              <p:nvPr/>
            </p:nvSpPr>
            <p:spPr>
              <a:xfrm>
                <a:off x="762000" y="2286000"/>
                <a:ext cx="2095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2E7D32"/>
                    </a:solidFill>
                    <a:latin typeface="Roboto"/>
                    <a:ea typeface="Roboto"/>
                    <a:cs typeface="Roboto"/>
                    <a:sym typeface="Roboto"/>
                  </a:rPr>
                  <a:t>Random Forest</a:t>
                </a:r>
                <a:endParaRPr b="0" sz="12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59" name="Google Shape;259;p27"/>
              <p:cNvSpPr txBox="1"/>
              <p:nvPr/>
            </p:nvSpPr>
            <p:spPr>
              <a:xfrm>
                <a:off x="2857500" y="2286000"/>
                <a:ext cx="1714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333333"/>
                    </a:solidFill>
                    <a:latin typeface="Roboto"/>
                    <a:ea typeface="Roboto"/>
                    <a:cs typeface="Roboto"/>
                    <a:sym typeface="Roboto"/>
                  </a:rPr>
                  <a:t>0.9400</a:t>
                </a:r>
                <a:endParaRPr b="1" sz="130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60" name="Google Shape;260;p27"/>
              <p:cNvSpPr txBox="1"/>
              <p:nvPr/>
            </p:nvSpPr>
            <p:spPr>
              <a:xfrm>
                <a:off x="4572000" y="2286000"/>
                <a:ext cx="1714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333333"/>
                    </a:solidFill>
                    <a:latin typeface="Roboto"/>
                    <a:ea typeface="Roboto"/>
                    <a:cs typeface="Roboto"/>
                    <a:sym typeface="Roboto"/>
                  </a:rPr>
                  <a:t>4.21%</a:t>
                </a:r>
                <a:endParaRPr b="1" sz="130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61" name="Google Shape;261;p27"/>
              <p:cNvSpPr txBox="1"/>
              <p:nvPr/>
            </p:nvSpPr>
            <p:spPr>
              <a:xfrm>
                <a:off x="6286500" y="2286000"/>
                <a:ext cx="1714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333333"/>
                    </a:solidFill>
                    <a:latin typeface="Roboto"/>
                    <a:ea typeface="Roboto"/>
                    <a:cs typeface="Roboto"/>
                    <a:sym typeface="Roboto"/>
                  </a:rPr>
                  <a:t>4.78%</a:t>
                </a:r>
                <a:endParaRPr b="1" sz="130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62" name="Google Shape;262;p27"/>
            <p:cNvSpPr/>
            <p:nvPr/>
          </p:nvSpPr>
          <p:spPr>
            <a:xfrm>
              <a:off x="571500" y="2857500"/>
              <a:ext cx="8001000" cy="571500"/>
            </a:xfrm>
            <a:prstGeom prst="rect">
              <a:avLst/>
            </a:prstGeom>
            <a:solidFill>
              <a:srgbClr val="C8E6C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3" name="Google Shape;263;p27"/>
            <p:cNvGrpSpPr/>
            <p:nvPr/>
          </p:nvGrpSpPr>
          <p:grpSpPr>
            <a:xfrm>
              <a:off x="762000" y="2857500"/>
              <a:ext cx="7239000" cy="571500"/>
              <a:chOff x="762000" y="2857500"/>
              <a:chExt cx="7239000" cy="571500"/>
            </a:xfrm>
          </p:grpSpPr>
          <p:sp>
            <p:nvSpPr>
              <p:cNvPr id="264" name="Google Shape;264;p27"/>
              <p:cNvSpPr txBox="1"/>
              <p:nvPr/>
            </p:nvSpPr>
            <p:spPr>
              <a:xfrm>
                <a:off x="762000" y="2857500"/>
                <a:ext cx="2095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B5E20"/>
                    </a:solidFill>
                    <a:latin typeface="Roboto"/>
                    <a:ea typeface="Roboto"/>
                    <a:cs typeface="Roboto"/>
                    <a:sym typeface="Roboto"/>
                  </a:rPr>
                  <a:t>Multiple Linear Regression</a:t>
                </a:r>
                <a:endParaRPr b="1" sz="12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65" name="Google Shape;265;p27"/>
              <p:cNvSpPr txBox="1"/>
              <p:nvPr/>
            </p:nvSpPr>
            <p:spPr>
              <a:xfrm>
                <a:off x="2857500" y="2857500"/>
                <a:ext cx="1714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1B5E20"/>
                    </a:solidFill>
                    <a:latin typeface="Roboto Black"/>
                    <a:ea typeface="Roboto Black"/>
                    <a:cs typeface="Roboto Black"/>
                    <a:sym typeface="Roboto Black"/>
                  </a:rPr>
                  <a:t>0.9600</a:t>
                </a:r>
                <a:endParaRPr b="0" sz="1400">
                  <a:solidFill>
                    <a:srgbClr val="1B5E20"/>
                  </a:solidFill>
                  <a:latin typeface="Roboto Black"/>
                  <a:ea typeface="Roboto Black"/>
                  <a:cs typeface="Roboto Black"/>
                  <a:sym typeface="Roboto Black"/>
                </a:endParaRPr>
              </a:p>
            </p:txBody>
          </p:sp>
          <p:sp>
            <p:nvSpPr>
              <p:cNvPr id="266" name="Google Shape;266;p27"/>
              <p:cNvSpPr txBox="1"/>
              <p:nvPr/>
            </p:nvSpPr>
            <p:spPr>
              <a:xfrm>
                <a:off x="4572000" y="2857500"/>
                <a:ext cx="1714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1B5E20"/>
                    </a:solidFill>
                    <a:latin typeface="Roboto Black"/>
                    <a:ea typeface="Roboto Black"/>
                    <a:cs typeface="Roboto Black"/>
                    <a:sym typeface="Roboto Black"/>
                  </a:rPr>
                  <a:t>2.85%</a:t>
                </a:r>
                <a:endParaRPr b="0" sz="1400">
                  <a:solidFill>
                    <a:srgbClr val="1B5E20"/>
                  </a:solidFill>
                  <a:latin typeface="Roboto Black"/>
                  <a:ea typeface="Roboto Black"/>
                  <a:cs typeface="Roboto Black"/>
                  <a:sym typeface="Roboto Black"/>
                </a:endParaRPr>
              </a:p>
            </p:txBody>
          </p:sp>
          <p:sp>
            <p:nvSpPr>
              <p:cNvPr id="267" name="Google Shape;267;p27"/>
              <p:cNvSpPr txBox="1"/>
              <p:nvPr/>
            </p:nvSpPr>
            <p:spPr>
              <a:xfrm>
                <a:off x="6286500" y="2857500"/>
                <a:ext cx="1714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1B5E20"/>
                    </a:solidFill>
                    <a:latin typeface="Roboto Black"/>
                    <a:ea typeface="Roboto Black"/>
                    <a:cs typeface="Roboto Black"/>
                    <a:sym typeface="Roboto Black"/>
                  </a:rPr>
                  <a:t>3.96%</a:t>
                </a:r>
                <a:endParaRPr b="0" sz="1400">
                  <a:solidFill>
                    <a:srgbClr val="1B5E20"/>
                  </a:solidFill>
                  <a:latin typeface="Roboto Black"/>
                  <a:ea typeface="Roboto Black"/>
                  <a:cs typeface="Roboto Black"/>
                  <a:sym typeface="Roboto Black"/>
                </a:endParaRPr>
              </a:p>
            </p:txBody>
          </p:sp>
        </p:grpSp>
        <p:sp>
          <p:nvSpPr>
            <p:cNvPr id="268" name="Google Shape;268;p27"/>
            <p:cNvSpPr/>
            <p:nvPr/>
          </p:nvSpPr>
          <p:spPr>
            <a:xfrm>
              <a:off x="571500" y="3429000"/>
              <a:ext cx="8001000" cy="666900"/>
            </a:xfrm>
            <a:prstGeom prst="roundRect">
              <a:avLst>
                <a:gd fmla="val 17142" name="adj"/>
              </a:avLst>
            </a:prstGeom>
            <a:solidFill>
              <a:srgbClr val="1B5E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7"/>
            <p:cNvSpPr/>
            <p:nvPr/>
          </p:nvSpPr>
          <p:spPr>
            <a:xfrm>
              <a:off x="571500" y="3429000"/>
              <a:ext cx="8001000" cy="142800"/>
            </a:xfrm>
            <a:prstGeom prst="rect">
              <a:avLst/>
            </a:prstGeom>
            <a:solidFill>
              <a:srgbClr val="1B5E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7"/>
            <p:cNvSpPr txBox="1"/>
            <p:nvPr/>
          </p:nvSpPr>
          <p:spPr>
            <a:xfrm>
              <a:off x="762000" y="3429000"/>
              <a:ext cx="7620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C8E6C9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Outcome:</a:t>
              </a: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The MLR algorithm significantly outperformed the complex ensemble methods in predictive accuracy and error reduction.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6" name="Google Shape;27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905250"/>
            <a:ext cx="9144000" cy="1238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7" name="Google Shape;277;p28"/>
          <p:cNvGrpSpPr/>
          <p:nvPr/>
        </p:nvGrpSpPr>
        <p:grpSpPr>
          <a:xfrm>
            <a:off x="571500" y="381000"/>
            <a:ext cx="8001000" cy="609600"/>
            <a:chOff x="571500" y="381000"/>
            <a:chExt cx="8001000" cy="609600"/>
          </a:xfrm>
        </p:grpSpPr>
        <p:sp>
          <p:nvSpPr>
            <p:cNvPr id="278" name="Google Shape;278;p28"/>
            <p:cNvSpPr txBox="1"/>
            <p:nvPr/>
          </p:nvSpPr>
          <p:spPr>
            <a:xfrm>
              <a:off x="571500" y="381000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200">
                  <a:solidFill>
                    <a:srgbClr val="1B5E20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R² Comparison for All Three Models</a:t>
              </a:r>
              <a:endParaRPr b="0" sz="32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279" name="Google Shape;279;p28"/>
            <p:cNvSpPr/>
            <p:nvPr/>
          </p:nvSpPr>
          <p:spPr>
            <a:xfrm>
              <a:off x="571500" y="952500"/>
              <a:ext cx="381000" cy="38100"/>
            </a:xfrm>
            <a:prstGeom prst="roundRect">
              <a:avLst>
                <a:gd fmla="val 50000" name="adj"/>
              </a:avLst>
            </a:prstGeom>
            <a:solidFill>
              <a:srgbClr val="81C78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0" name="Google Shape;280;p28"/>
          <p:cNvSpPr txBox="1"/>
          <p:nvPr/>
        </p:nvSpPr>
        <p:spPr>
          <a:xfrm>
            <a:off x="571500" y="1333500"/>
            <a:ext cx="8001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1" name="Google Shape;281;p28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0425" y="1145350"/>
            <a:ext cx="6505575" cy="392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7" name="Google Shape;28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905250"/>
            <a:ext cx="9144000" cy="1238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8" name="Google Shape;288;p29"/>
          <p:cNvGrpSpPr/>
          <p:nvPr/>
        </p:nvGrpSpPr>
        <p:grpSpPr>
          <a:xfrm>
            <a:off x="571500" y="381000"/>
            <a:ext cx="8001000" cy="609600"/>
            <a:chOff x="571500" y="381000"/>
            <a:chExt cx="8001000" cy="609600"/>
          </a:xfrm>
        </p:grpSpPr>
        <p:sp>
          <p:nvSpPr>
            <p:cNvPr id="289" name="Google Shape;289;p29"/>
            <p:cNvSpPr txBox="1"/>
            <p:nvPr/>
          </p:nvSpPr>
          <p:spPr>
            <a:xfrm>
              <a:off x="571500" y="381000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3200">
                  <a:solidFill>
                    <a:srgbClr val="1B5E20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Error Metrics Comparison</a:t>
              </a:r>
              <a:endParaRPr b="0" i="0" sz="32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290" name="Google Shape;290;p29"/>
            <p:cNvSpPr/>
            <p:nvPr/>
          </p:nvSpPr>
          <p:spPr>
            <a:xfrm>
              <a:off x="571500" y="952500"/>
              <a:ext cx="381000" cy="38100"/>
            </a:xfrm>
            <a:prstGeom prst="roundRect">
              <a:avLst>
                <a:gd fmla="val 50000" name="adj"/>
              </a:avLst>
            </a:prstGeom>
            <a:solidFill>
              <a:srgbClr val="81C78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1" name="Google Shape;291;p29"/>
          <p:cNvSpPr txBox="1"/>
          <p:nvPr/>
        </p:nvSpPr>
        <p:spPr>
          <a:xfrm>
            <a:off x="571500" y="1333500"/>
            <a:ext cx="8001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2" name="Google Shape;292;p29" title="download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813" y="1086548"/>
            <a:ext cx="7572375" cy="398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8" name="Google Shape;29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905250"/>
            <a:ext cx="9144000" cy="1238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30"/>
          <p:cNvGrpSpPr/>
          <p:nvPr/>
        </p:nvGrpSpPr>
        <p:grpSpPr>
          <a:xfrm>
            <a:off x="571500" y="381000"/>
            <a:ext cx="8001000" cy="609600"/>
            <a:chOff x="571500" y="381000"/>
            <a:chExt cx="8001000" cy="609600"/>
          </a:xfrm>
        </p:grpSpPr>
        <p:sp>
          <p:nvSpPr>
            <p:cNvPr id="300" name="Google Shape;300;p30"/>
            <p:cNvSpPr txBox="1"/>
            <p:nvPr/>
          </p:nvSpPr>
          <p:spPr>
            <a:xfrm>
              <a:off x="571500" y="381000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200">
                  <a:solidFill>
                    <a:srgbClr val="1B5E20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MSE Comparison</a:t>
              </a:r>
              <a:endParaRPr b="0" sz="32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301" name="Google Shape;301;p30"/>
            <p:cNvSpPr/>
            <p:nvPr/>
          </p:nvSpPr>
          <p:spPr>
            <a:xfrm>
              <a:off x="571500" y="952500"/>
              <a:ext cx="381000" cy="38100"/>
            </a:xfrm>
            <a:prstGeom prst="roundRect">
              <a:avLst>
                <a:gd fmla="val 50000" name="adj"/>
              </a:avLst>
            </a:prstGeom>
            <a:solidFill>
              <a:srgbClr val="81C78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2" name="Google Shape;302;p30"/>
          <p:cNvSpPr txBox="1"/>
          <p:nvPr/>
        </p:nvSpPr>
        <p:spPr>
          <a:xfrm>
            <a:off x="571500" y="1333500"/>
            <a:ext cx="8001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3" name="Google Shape;303;p30" title="download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8275" y="1039525"/>
            <a:ext cx="6467475" cy="391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1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Results: Predictive Accuracy</a:t>
            </a:r>
            <a:endParaRPr b="0" sz="3200">
              <a:solidFill>
                <a:srgbClr val="1B5E2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09" name="Google Shape;309;p31"/>
          <p:cNvSpPr/>
          <p:nvPr/>
        </p:nvSpPr>
        <p:spPr>
          <a:xfrm>
            <a:off x="571500" y="95250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81C7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0" name="Google Shape;310;p31"/>
          <p:cNvGrpSpPr/>
          <p:nvPr/>
        </p:nvGrpSpPr>
        <p:grpSpPr>
          <a:xfrm>
            <a:off x="249300" y="1286475"/>
            <a:ext cx="5385633" cy="3410388"/>
            <a:chOff x="0" y="0"/>
            <a:chExt cx="2524200" cy="2476500"/>
          </a:xfrm>
        </p:grpSpPr>
        <p:sp>
          <p:nvSpPr>
            <p:cNvPr id="311" name="Google Shape;311;p31"/>
            <p:cNvSpPr/>
            <p:nvPr/>
          </p:nvSpPr>
          <p:spPr>
            <a:xfrm>
              <a:off x="0" y="0"/>
              <a:ext cx="2524200" cy="2476500"/>
            </a:xfrm>
            <a:prstGeom prst="roundRect">
              <a:avLst>
                <a:gd fmla="val 4615" name="adj"/>
              </a:avLst>
            </a:prstGeom>
            <a:solidFill>
              <a:srgbClr val="FFFFFF">
                <a:alpha val="90000"/>
              </a:srgbClr>
            </a:solidFill>
            <a:ln cap="flat" cmpd="sng" w="131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scientific scatter plot showing data points clustering tightly along a diagonal line y=x, with a clean aesthetic and green accents." id="312" name="Google Shape;312;p31"/>
            <p:cNvPicPr preferRelativeResize="0"/>
            <p:nvPr/>
          </p:nvPicPr>
          <p:blipFill rotWithShape="1">
            <a:blip r:embed="rId3">
              <a:alphaModFix/>
            </a:blip>
            <a:srcRect b="2598" l="0" r="0" t="2588"/>
            <a:stretch/>
          </p:blipFill>
          <p:spPr>
            <a:xfrm>
              <a:off x="190500" y="190500"/>
              <a:ext cx="2143200" cy="15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3" name="Google Shape;313;p31"/>
            <p:cNvSpPr txBox="1"/>
            <p:nvPr/>
          </p:nvSpPr>
          <p:spPr>
            <a:xfrm>
              <a:off x="190500" y="1809750"/>
              <a:ext cx="2143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29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Scatter Plot Analysis:</a:t>
              </a:r>
              <a:r>
                <a:rPr b="0" lang="en" sz="1229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 Densely clustered points along y=x trajectory (R²: 0.96) confirm high variance capture.</a:t>
              </a:r>
              <a:endParaRPr b="0" sz="1229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14" name="Google Shape;314;p31"/>
          <p:cNvGrpSpPr/>
          <p:nvPr/>
        </p:nvGrpSpPr>
        <p:grpSpPr>
          <a:xfrm>
            <a:off x="6048375" y="1238250"/>
            <a:ext cx="2524200" cy="2476500"/>
            <a:chOff x="0" y="0"/>
            <a:chExt cx="2524200" cy="2476500"/>
          </a:xfrm>
        </p:grpSpPr>
        <p:sp>
          <p:nvSpPr>
            <p:cNvPr id="315" name="Google Shape;315;p31"/>
            <p:cNvSpPr/>
            <p:nvPr/>
          </p:nvSpPr>
          <p:spPr>
            <a:xfrm>
              <a:off x="0" y="0"/>
              <a:ext cx="2524200" cy="2476500"/>
            </a:xfrm>
            <a:prstGeom prst="roundRect">
              <a:avLst>
                <a:gd fmla="val 4615" name="adj"/>
              </a:avLst>
            </a:prstGeom>
            <a:solidFill>
              <a:srgbClr val="FFFFFF">
                <a:alpha val="90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1"/>
            <p:cNvSpPr txBox="1"/>
            <p:nvPr/>
          </p:nvSpPr>
          <p:spPr>
            <a:xfrm>
              <a:off x="190500" y="190500"/>
              <a:ext cx="2143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B5E2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Sample System Output</a:t>
              </a:r>
              <a:endParaRPr b="1" sz="1200">
                <a:solidFill>
                  <a:srgbClr val="1B5E2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17" name="Google Shape;317;p31"/>
            <p:cNvSpPr/>
            <p:nvPr/>
          </p:nvSpPr>
          <p:spPr>
            <a:xfrm>
              <a:off x="190500" y="523875"/>
              <a:ext cx="2143200" cy="9600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1"/>
            <p:cNvSpPr txBox="1"/>
            <p:nvPr/>
          </p:nvSpPr>
          <p:spPr>
            <a:xfrm>
              <a:off x="190500" y="666750"/>
              <a:ext cx="21432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93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Input Parameters:</a:t>
              </a:r>
              <a:endParaRPr b="0" sz="893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• Rain: 10mm</a:t>
              </a:r>
              <a:endParaRPr b="1" sz="935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• Temp: 32°C</a:t>
              </a:r>
              <a:endParaRPr b="1" sz="935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893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Prediction:</a:t>
              </a:r>
              <a:endParaRPr b="0" sz="893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• Moisture: 28.3%</a:t>
              </a:r>
              <a:endParaRPr b="1" sz="935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893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Advisory:</a:t>
              </a:r>
              <a:endParaRPr b="0" sz="893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Irrigate &amp; plant Red gram / Groundnut</a:t>
              </a:r>
              <a:endParaRPr b="1" sz="935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319" name="Google Shape;319;p31" title="download (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300" y="1351775"/>
            <a:ext cx="5385625" cy="329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5" name="Google Shape;32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905250"/>
            <a:ext cx="9144000" cy="1238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6" name="Google Shape;326;p32"/>
          <p:cNvGrpSpPr/>
          <p:nvPr/>
        </p:nvGrpSpPr>
        <p:grpSpPr>
          <a:xfrm>
            <a:off x="571500" y="381000"/>
            <a:ext cx="8001000" cy="609600"/>
            <a:chOff x="571500" y="381000"/>
            <a:chExt cx="8001000" cy="609600"/>
          </a:xfrm>
        </p:grpSpPr>
        <p:sp>
          <p:nvSpPr>
            <p:cNvPr id="327" name="Google Shape;327;p32"/>
            <p:cNvSpPr txBox="1"/>
            <p:nvPr/>
          </p:nvSpPr>
          <p:spPr>
            <a:xfrm>
              <a:off x="571500" y="381000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80">
                  <a:solidFill>
                    <a:srgbClr val="1B5E20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Agro-Meteorological Feature Correlation Matrix</a:t>
              </a:r>
              <a:endParaRPr b="0" sz="248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328" name="Google Shape;328;p32"/>
            <p:cNvSpPr/>
            <p:nvPr/>
          </p:nvSpPr>
          <p:spPr>
            <a:xfrm>
              <a:off x="571500" y="952500"/>
              <a:ext cx="381000" cy="38100"/>
            </a:xfrm>
            <a:prstGeom prst="roundRect">
              <a:avLst>
                <a:gd fmla="val 50000" name="adj"/>
              </a:avLst>
            </a:prstGeom>
            <a:solidFill>
              <a:srgbClr val="81C78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9" name="Google Shape;329;p32"/>
          <p:cNvSpPr txBox="1"/>
          <p:nvPr/>
        </p:nvSpPr>
        <p:spPr>
          <a:xfrm>
            <a:off x="665575" y="1357025"/>
            <a:ext cx="8001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2E7D3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0" name="Google Shape;330;p32" title="correla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575" y="1145350"/>
            <a:ext cx="7906924" cy="38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5" name="Google Shape;33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3"/>
          <p:cNvPicPr preferRelativeResize="0"/>
          <p:nvPr/>
        </p:nvPicPr>
        <p:blipFill rotWithShape="1">
          <a:blip r:embed="rId4">
            <a:alphaModFix/>
          </a:blip>
          <a:srcRect b="0" l="10" r="0" t="0"/>
          <a:stretch/>
        </p:blipFill>
        <p:spPr>
          <a:xfrm>
            <a:off x="0" y="3905250"/>
            <a:ext cx="9144000" cy="1238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337" name="Google Shape;337;p33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Discussion &amp; Analysis</a:t>
            </a:r>
            <a:endParaRPr b="0" sz="3200">
              <a:solidFill>
                <a:srgbClr val="1B5E2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38" name="Google Shape;338;p33"/>
          <p:cNvSpPr/>
          <p:nvPr/>
        </p:nvSpPr>
        <p:spPr>
          <a:xfrm>
            <a:off x="571500" y="95250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81C7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9" name="Google Shape;339;p33"/>
          <p:cNvGrpSpPr/>
          <p:nvPr/>
        </p:nvGrpSpPr>
        <p:grpSpPr>
          <a:xfrm>
            <a:off x="571500" y="1238250"/>
            <a:ext cx="3905400" cy="1285800"/>
            <a:chOff x="571500" y="1238250"/>
            <a:chExt cx="3905400" cy="1285800"/>
          </a:xfrm>
        </p:grpSpPr>
        <p:sp>
          <p:nvSpPr>
            <p:cNvPr id="340" name="Google Shape;340;p33"/>
            <p:cNvSpPr/>
            <p:nvPr/>
          </p:nvSpPr>
          <p:spPr>
            <a:xfrm>
              <a:off x="571500" y="1238250"/>
              <a:ext cx="3905400" cy="1285800"/>
            </a:xfrm>
            <a:prstGeom prst="roundRect">
              <a:avLst>
                <a:gd fmla="val 8890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3"/>
            <p:cNvSpPr txBox="1"/>
            <p:nvPr/>
          </p:nvSpPr>
          <p:spPr>
            <a:xfrm>
              <a:off x="762000" y="1381125"/>
              <a:ext cx="3524400" cy="10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Model Performance</a:t>
              </a:r>
              <a:endParaRPr b="1" sz="16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An R² score of 0.96 proves that the MLR model is highly capable of predicting soil moisture accurately for field-deployment.</a:t>
              </a:r>
              <a:endParaRPr b="0" sz="13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2" name="Google Shape;342;p33"/>
          <p:cNvGrpSpPr/>
          <p:nvPr/>
        </p:nvGrpSpPr>
        <p:grpSpPr>
          <a:xfrm>
            <a:off x="4667250" y="1238250"/>
            <a:ext cx="3905400" cy="1285800"/>
            <a:chOff x="4667250" y="1238250"/>
            <a:chExt cx="3905400" cy="1285800"/>
          </a:xfrm>
        </p:grpSpPr>
        <p:sp>
          <p:nvSpPr>
            <p:cNvPr id="343" name="Google Shape;343;p33"/>
            <p:cNvSpPr/>
            <p:nvPr/>
          </p:nvSpPr>
          <p:spPr>
            <a:xfrm>
              <a:off x="4667250" y="1238250"/>
              <a:ext cx="3905400" cy="1285800"/>
            </a:xfrm>
            <a:prstGeom prst="roundRect">
              <a:avLst>
                <a:gd fmla="val 8890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3"/>
            <p:cNvSpPr txBox="1"/>
            <p:nvPr/>
          </p:nvSpPr>
          <p:spPr>
            <a:xfrm>
              <a:off x="4857750" y="1381125"/>
              <a:ext cx="3524400" cy="10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Interpretability</a:t>
              </a:r>
              <a:endParaRPr b="1" sz="16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Transparent recommendation engine allows farmers to verify thresholds directly, building user trust.</a:t>
              </a:r>
              <a:endParaRPr b="0" sz="13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5" name="Google Shape;345;p33"/>
          <p:cNvGrpSpPr/>
          <p:nvPr/>
        </p:nvGrpSpPr>
        <p:grpSpPr>
          <a:xfrm>
            <a:off x="571500" y="2619375"/>
            <a:ext cx="3905400" cy="1285800"/>
            <a:chOff x="571500" y="2619375"/>
            <a:chExt cx="3905400" cy="1285800"/>
          </a:xfrm>
        </p:grpSpPr>
        <p:sp>
          <p:nvSpPr>
            <p:cNvPr id="346" name="Google Shape;346;p33"/>
            <p:cNvSpPr/>
            <p:nvPr/>
          </p:nvSpPr>
          <p:spPr>
            <a:xfrm>
              <a:off x="571500" y="2619375"/>
              <a:ext cx="3905400" cy="1285800"/>
            </a:xfrm>
            <a:prstGeom prst="roundRect">
              <a:avLst>
                <a:gd fmla="val 8890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3"/>
            <p:cNvSpPr txBox="1"/>
            <p:nvPr/>
          </p:nvSpPr>
          <p:spPr>
            <a:xfrm>
              <a:off x="762000" y="2762250"/>
              <a:ext cx="3524400" cy="10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Input Mode Effectiveness</a:t>
              </a:r>
              <a:endParaRPr b="1" sz="16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"Field Observation" mode introduces minor acceptable error (±5%), overcoming literacy barriers while preserving accuracy.</a:t>
              </a:r>
              <a:endParaRPr b="0" sz="13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8" name="Google Shape;348;p33"/>
          <p:cNvGrpSpPr/>
          <p:nvPr/>
        </p:nvGrpSpPr>
        <p:grpSpPr>
          <a:xfrm>
            <a:off x="4667250" y="2619375"/>
            <a:ext cx="3905400" cy="1285800"/>
            <a:chOff x="4667250" y="2619375"/>
            <a:chExt cx="3905400" cy="1285800"/>
          </a:xfrm>
        </p:grpSpPr>
        <p:sp>
          <p:nvSpPr>
            <p:cNvPr id="349" name="Google Shape;349;p33"/>
            <p:cNvSpPr/>
            <p:nvPr/>
          </p:nvSpPr>
          <p:spPr>
            <a:xfrm>
              <a:off x="4667250" y="2619375"/>
              <a:ext cx="3905400" cy="1285800"/>
            </a:xfrm>
            <a:prstGeom prst="roundRect">
              <a:avLst>
                <a:gd fmla="val 8890" name="adj"/>
              </a:avLst>
            </a:prstGeom>
            <a:solidFill>
              <a:srgbClr val="FFFFFF">
                <a:alpha val="85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3"/>
            <p:cNvSpPr txBox="1"/>
            <p:nvPr/>
          </p:nvSpPr>
          <p:spPr>
            <a:xfrm>
              <a:off x="4857750" y="2762250"/>
              <a:ext cx="3524400" cy="10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System Limitations</a:t>
              </a:r>
              <a:endParaRPr b="1" sz="16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Lacks soil pH/topography parameters, 7-day forecasting, and faces seasonal errors due to fixed day-length.</a:t>
              </a:r>
              <a:endParaRPr b="0" sz="13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905250"/>
            <a:ext cx="9144000" cy="12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4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Conclusion and Future Work</a:t>
            </a:r>
            <a:endParaRPr b="0" sz="3200">
              <a:solidFill>
                <a:srgbClr val="1B5E2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57" name="Google Shape;357;p34"/>
          <p:cNvSpPr/>
          <p:nvPr/>
        </p:nvSpPr>
        <p:spPr>
          <a:xfrm>
            <a:off x="571500" y="95250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81C7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8" name="Google Shape;358;p34"/>
          <p:cNvGrpSpPr/>
          <p:nvPr/>
        </p:nvGrpSpPr>
        <p:grpSpPr>
          <a:xfrm>
            <a:off x="571500" y="1238250"/>
            <a:ext cx="3905400" cy="2476500"/>
            <a:chOff x="0" y="0"/>
            <a:chExt cx="3905400" cy="2476500"/>
          </a:xfrm>
        </p:grpSpPr>
        <p:sp>
          <p:nvSpPr>
            <p:cNvPr id="359" name="Google Shape;359;p34"/>
            <p:cNvSpPr/>
            <p:nvPr/>
          </p:nvSpPr>
          <p:spPr>
            <a:xfrm>
              <a:off x="0" y="0"/>
              <a:ext cx="3905400" cy="2476500"/>
            </a:xfrm>
            <a:prstGeom prst="roundRect">
              <a:avLst>
                <a:gd fmla="val 4615" name="adj"/>
              </a:avLst>
            </a:prstGeom>
            <a:solidFill>
              <a:srgbClr val="FFFFFF">
                <a:alpha val="90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4"/>
            <p:cNvSpPr txBox="1"/>
            <p:nvPr/>
          </p:nvSpPr>
          <p:spPr>
            <a:xfrm>
              <a:off x="190500" y="190500"/>
              <a:ext cx="3524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B5E2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Conclusion</a:t>
              </a:r>
              <a:endParaRPr b="1" sz="1600">
                <a:solidFill>
                  <a:srgbClr val="1B5E2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1" name="Google Shape;361;p34"/>
            <p:cNvSpPr txBox="1"/>
            <p:nvPr/>
          </p:nvSpPr>
          <p:spPr>
            <a:xfrm>
              <a:off x="190500" y="571500"/>
              <a:ext cx="35244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• High Accuracy System</a:t>
              </a:r>
              <a:endParaRPr b="1" sz="12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Successfully developed a low-cost Python system with </a:t>
              </a:r>
              <a:r>
                <a:rPr b="1" lang="en" sz="12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R² = 0.96</a:t>
              </a:r>
              <a:r>
                <a:rPr b="0" lang="en" sz="12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 using  Multiple Linear Regression.</a:t>
              </a:r>
              <a:endParaRPr b="0" sz="12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• Inclusive Accessibility</a:t>
              </a:r>
              <a:endParaRPr b="1" sz="120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Dual-input modes bridge the gap for both technical and non-technical farmers.</a:t>
              </a:r>
              <a:endParaRPr b="0" sz="12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62" name="Google Shape;362;p34"/>
          <p:cNvGrpSpPr/>
          <p:nvPr/>
        </p:nvGrpSpPr>
        <p:grpSpPr>
          <a:xfrm>
            <a:off x="4667250" y="1238250"/>
            <a:ext cx="3905400" cy="2476500"/>
            <a:chOff x="0" y="0"/>
            <a:chExt cx="3905400" cy="2476500"/>
          </a:xfrm>
        </p:grpSpPr>
        <p:sp>
          <p:nvSpPr>
            <p:cNvPr id="363" name="Google Shape;363;p34"/>
            <p:cNvSpPr/>
            <p:nvPr/>
          </p:nvSpPr>
          <p:spPr>
            <a:xfrm>
              <a:off x="0" y="0"/>
              <a:ext cx="3905400" cy="2476500"/>
            </a:xfrm>
            <a:prstGeom prst="roundRect">
              <a:avLst>
                <a:gd fmla="val 4615" name="adj"/>
              </a:avLst>
            </a:prstGeom>
            <a:solidFill>
              <a:srgbClr val="FFFFFF">
                <a:alpha val="90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4"/>
            <p:cNvSpPr txBox="1"/>
            <p:nvPr/>
          </p:nvSpPr>
          <p:spPr>
            <a:xfrm>
              <a:off x="190500" y="190500"/>
              <a:ext cx="3524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B5E2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Future Work</a:t>
              </a:r>
              <a:endParaRPr b="1" sz="1600">
                <a:solidFill>
                  <a:srgbClr val="1B5E2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5" name="Google Shape;365;p34"/>
            <p:cNvSpPr txBox="1"/>
            <p:nvPr/>
          </p:nvSpPr>
          <p:spPr>
            <a:xfrm>
              <a:off x="190500" y="571500"/>
              <a:ext cx="35244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Expansion:</a:t>
              </a:r>
              <a:r>
                <a:rPr b="0" lang="en" sz="12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 Database growth to 30+ crops across Karnataka.</a:t>
              </a:r>
              <a:endParaRPr b="0" sz="12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Integration:</a:t>
              </a:r>
              <a:r>
                <a:rPr b="0" lang="en" sz="12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 IMD Weather APIs for 7-day forecasting and IoT telemetry.</a:t>
              </a:r>
              <a:endParaRPr b="0" sz="12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B5E20"/>
                  </a:solidFill>
                  <a:latin typeface="Roboto"/>
                  <a:ea typeface="Roboto"/>
                  <a:cs typeface="Roboto"/>
                  <a:sym typeface="Roboto"/>
                </a:rPr>
                <a:t>Deployment:</a:t>
              </a:r>
              <a:r>
                <a:rPr b="0" lang="en" sz="12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 Kannada Android interface and LSTM deep learning research.</a:t>
              </a:r>
              <a:endParaRPr b="0" sz="12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8E9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905250"/>
            <a:ext cx="9144000" cy="12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5"/>
          <p:cNvSpPr txBox="1"/>
          <p:nvPr/>
        </p:nvSpPr>
        <p:spPr>
          <a:xfrm>
            <a:off x="571500" y="285750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3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References &amp; Acknowledgements</a:t>
            </a:r>
            <a:endParaRPr b="0" i="0" sz="3230">
              <a:solidFill>
                <a:srgbClr val="1B5E2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71" name="Google Shape;371;p35"/>
          <p:cNvSpPr/>
          <p:nvPr/>
        </p:nvSpPr>
        <p:spPr>
          <a:xfrm>
            <a:off x="571500" y="1000125"/>
            <a:ext cx="381000" cy="38100"/>
          </a:xfrm>
          <a:prstGeom prst="roundRect">
            <a:avLst>
              <a:gd fmla="val 50000" name="adj"/>
            </a:avLst>
          </a:prstGeom>
          <a:solidFill>
            <a:srgbClr val="81C78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2" name="Google Shape;372;p35"/>
          <p:cNvGrpSpPr/>
          <p:nvPr/>
        </p:nvGrpSpPr>
        <p:grpSpPr>
          <a:xfrm>
            <a:off x="476250" y="1190625"/>
            <a:ext cx="4000500" cy="2667000"/>
            <a:chOff x="476250" y="1190625"/>
            <a:chExt cx="4000500" cy="2667000"/>
          </a:xfrm>
        </p:grpSpPr>
        <p:sp>
          <p:nvSpPr>
            <p:cNvPr id="373" name="Google Shape;373;p35"/>
            <p:cNvSpPr/>
            <p:nvPr/>
          </p:nvSpPr>
          <p:spPr>
            <a:xfrm>
              <a:off x="476250" y="1190625"/>
              <a:ext cx="4000500" cy="2667000"/>
            </a:xfrm>
            <a:prstGeom prst="roundRect">
              <a:avLst>
                <a:gd fmla="val 4285" name="adj"/>
              </a:avLst>
            </a:prstGeom>
            <a:solidFill>
              <a:srgbClr val="FFFFFF">
                <a:alpha val="90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5"/>
            <p:cNvSpPr txBox="1"/>
            <p:nvPr/>
          </p:nvSpPr>
          <p:spPr>
            <a:xfrm>
              <a:off x="666750" y="1381125"/>
              <a:ext cx="36195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>
                  <a:solidFill>
                    <a:srgbClr val="1B5E2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References</a:t>
              </a:r>
              <a:endParaRPr b="1" i="0" sz="1800">
                <a:solidFill>
                  <a:srgbClr val="1B5E2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75" name="Google Shape;375;p35"/>
            <p:cNvSpPr txBox="1"/>
            <p:nvPr/>
          </p:nvSpPr>
          <p:spPr>
            <a:xfrm>
              <a:off x="666750" y="1762125"/>
              <a:ext cx="36195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• Breiman, L. (2001). Random Forests. </a:t>
              </a:r>
              <a:r>
                <a:rPr b="0" i="1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Machine Learning</a:t>
              </a:r>
              <a:r>
                <a:rPr b="0" i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, 45(1), 5–32.</a:t>
              </a:r>
              <a:endParaRPr b="0" i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i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• IMD. (2024). Annual Rainfall Data Reports. India Meteorological Department.</a:t>
              </a:r>
              <a:endParaRPr b="0" i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i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• ICAR. (2024). Handbook of Agriculture (7th Edition).</a:t>
              </a:r>
              <a:endParaRPr b="0" i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i="0" lang="en" sz="11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• Pedregosa, F., et al. (2021). Scikit-learn: Machine Learning in Python.</a:t>
              </a:r>
              <a:endParaRPr b="0" i="0" sz="11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6" name="Google Shape;376;p35"/>
          <p:cNvGrpSpPr/>
          <p:nvPr/>
        </p:nvGrpSpPr>
        <p:grpSpPr>
          <a:xfrm>
            <a:off x="4667250" y="1190625"/>
            <a:ext cx="4000500" cy="2667000"/>
            <a:chOff x="4667250" y="1190625"/>
            <a:chExt cx="4000500" cy="2667000"/>
          </a:xfrm>
        </p:grpSpPr>
        <p:sp>
          <p:nvSpPr>
            <p:cNvPr id="377" name="Google Shape;377;p35"/>
            <p:cNvSpPr/>
            <p:nvPr/>
          </p:nvSpPr>
          <p:spPr>
            <a:xfrm>
              <a:off x="4667250" y="1190625"/>
              <a:ext cx="4000500" cy="2667000"/>
            </a:xfrm>
            <a:prstGeom prst="roundRect">
              <a:avLst>
                <a:gd fmla="val 4285" name="adj"/>
              </a:avLst>
            </a:prstGeom>
            <a:solidFill>
              <a:srgbClr val="FFFFFF">
                <a:alpha val="90000"/>
              </a:srgbClr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5"/>
            <p:cNvSpPr txBox="1"/>
            <p:nvPr/>
          </p:nvSpPr>
          <p:spPr>
            <a:xfrm>
              <a:off x="4857750" y="1381125"/>
              <a:ext cx="36195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>
                  <a:solidFill>
                    <a:srgbClr val="1B5E2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Acknowledgements</a:t>
              </a:r>
              <a:endParaRPr b="1" i="0" sz="1800">
                <a:solidFill>
                  <a:srgbClr val="1B5E2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79" name="Google Shape;379;p35"/>
            <p:cNvSpPr txBox="1"/>
            <p:nvPr/>
          </p:nvSpPr>
          <p:spPr>
            <a:xfrm>
              <a:off x="4857750" y="1762125"/>
              <a:ext cx="36195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Sincere gratitude to the Course Teacher of EAI-421, University of Agricultural Sciences, Bengaluru (UAS-B) for conceptual framework and mentorship.</a:t>
              </a:r>
              <a:endParaRPr b="0" i="0" sz="12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2E7D32"/>
                  </a:solidFill>
                  <a:latin typeface="Roboto"/>
                  <a:ea typeface="Roboto"/>
                  <a:cs typeface="Roboto"/>
                  <a:sym typeface="Roboto"/>
                </a:rPr>
                <a:t>Special thanks to the College of Agriculture, UAS-B for providing the necessary resources and environment for this research.</a:t>
              </a:r>
              <a:endParaRPr b="0" i="0" sz="1200">
                <a:solidFill>
                  <a:srgbClr val="2E7D3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